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d8e951da7a4b7a" /><Relationship Type="http://schemas.openxmlformats.org/officeDocument/2006/relationships/extended-properties" Target="/docProps/app.xml" Id="R1007857cec434a3b" /><Relationship Type="http://schemas.openxmlformats.org/officeDocument/2006/relationships/officeDocument" Target="/ppt/presentation.xml" Id="Re34860a270ff4c37" /></Relationships>
</file>

<file path=ppt/presentation.xml><?xml version="1.0" encoding="utf-8"?>
<p:presentation xmlns:p="http://schemas.openxmlformats.org/presentationml/2006/main">
  <p:sldMasterIdLst>
    <p:sldMasterId xmlns:r="http://schemas.openxmlformats.org/officeDocument/2006/relationships" id="2147483648" r:id="R8d2b640828c347bc"/>
  </p:sldMasterIdLst>
  <p:notesMasterIdLst>
    <p:notesMasterId xmlns:r="http://schemas.openxmlformats.org/officeDocument/2006/relationships" r:id="Rc24b87e02e0d4788"/>
  </p:notesMasterIdLst>
  <p:sldIdLst>
    <p:sldId xmlns:r="http://schemas.openxmlformats.org/officeDocument/2006/relationships" id="256" r:id="R6c4c58290c0a4609"/>
    <p:sldId xmlns:r="http://schemas.openxmlformats.org/officeDocument/2006/relationships" id="257" r:id="Rb33d3c53c0e94e38"/>
    <p:sldId xmlns:r="http://schemas.openxmlformats.org/officeDocument/2006/relationships" id="258" r:id="R8d05be843632483a"/>
    <p:sldId xmlns:r="http://schemas.openxmlformats.org/officeDocument/2006/relationships" id="259" r:id="Rda01274a9f344568"/>
    <p:sldId xmlns:r="http://schemas.openxmlformats.org/officeDocument/2006/relationships" id="260" r:id="R7f3d164d05364fe0"/>
    <p:sldId xmlns:r="http://schemas.openxmlformats.org/officeDocument/2006/relationships" id="261" r:id="Rfcc64d633eb64c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239bd28c4542df" /><Relationship Type="http://schemas.openxmlformats.org/officeDocument/2006/relationships/slideMaster" Target="/ppt/slideMasters/slideMaster1.xml" Id="R8d2b640828c347bc" /><Relationship Type="http://schemas.openxmlformats.org/officeDocument/2006/relationships/notesMaster" Target="/ppt/notesMasters/notesMaster1.xml" Id="Rc24b87e02e0d4788" /><Relationship Type="http://schemas.openxmlformats.org/officeDocument/2006/relationships/presProps" Target="/ppt/presProps.xml" Id="Rb21dc109c1824d59" /><Relationship Type="http://schemas.openxmlformats.org/officeDocument/2006/relationships/tableStyles" Target="/ppt/tableStyles.xml" Id="Rc898c94b561c4bbe" /><Relationship Type="http://schemas.openxmlformats.org/officeDocument/2006/relationships/slide" Target="/ppt/slides/slide1.xml" Id="R6c4c58290c0a4609" /><Relationship Type="http://schemas.openxmlformats.org/officeDocument/2006/relationships/slide" Target="/ppt/slides/slide2.xml" Id="Rb33d3c53c0e94e38" /><Relationship Type="http://schemas.openxmlformats.org/officeDocument/2006/relationships/slide" Target="/ppt/slides/slide3.xml" Id="R8d05be843632483a" /><Relationship Type="http://schemas.openxmlformats.org/officeDocument/2006/relationships/slide" Target="/ppt/slides/slide4.xml" Id="Rda01274a9f344568" /><Relationship Type="http://schemas.openxmlformats.org/officeDocument/2006/relationships/slide" Target="/ppt/slides/slide5.xml" Id="R7f3d164d05364fe0" /><Relationship Type="http://schemas.openxmlformats.org/officeDocument/2006/relationships/slide" Target="/ppt/slides/slide6.xml" Id="Rfcc64d633eb64c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36666460314d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30604eb2974610" /><Relationship Type="http://schemas.openxmlformats.org/officeDocument/2006/relationships/notesMaster" Target="/ppt/notesMasters/notesMaster1.xml" Id="R351a36a86f2348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b1c5a30d7a4050" /><Relationship Type="http://schemas.openxmlformats.org/officeDocument/2006/relationships/notesMaster" Target="/ppt/notesMasters/notesMaster1.xml" Id="R03a35c5cc0e140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dbf6faff8564197" /><Relationship Type="http://schemas.openxmlformats.org/officeDocument/2006/relationships/notesMaster" Target="/ppt/notesMasters/notesMaster1.xml" Id="R4079ee373e3144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2248c4828449c9" /><Relationship Type="http://schemas.openxmlformats.org/officeDocument/2006/relationships/notesMaster" Target="/ppt/notesMasters/notesMaster1.xml" Id="R07d772403ac144c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c981f89571456a" /><Relationship Type="http://schemas.openxmlformats.org/officeDocument/2006/relationships/notesMaster" Target="/ppt/notesMasters/notesMaster1.xml" Id="R25d287c08a3542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f06a3313e34ad8" /><Relationship Type="http://schemas.openxmlformats.org/officeDocument/2006/relationships/notesMaster" Target="/ppt/notesMasters/notesMaster1.xml" Id="Rdd03f438f7d044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after the 30-second trailer. State the product promise once, then move into the live G60 / US story.</a:t>
            </a:r>
          </a:p>
          <a:p xmlns:a="http://schemas.openxmlformats.org/drawingml/2006/main">
            <a:r>
              <a:t/>
            </a:r>
          </a:p>
          <a:p xmlns:a="http://schemas.openxmlformats.org/drawingml/2006/main">
            <a:r>
              <a:t>Sources: notes/pitch-plan.md (draft, 11 October 2026); https://www.invertix.ai/security (visual reference).  Copper texture cropped from the visual reference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 count and source concentration are sample facts, not market prevalence. State that clearly before discussing the charging requirement. The priority score and evidence grade answer different questions.</a:t>
            </a:r>
          </a:p>
          <a:p xmlns:a="http://schemas.openxmlformats.org/drawingml/2006/main">
            <a:r>
              <a:t/>
            </a:r>
          </a:p>
          <a:p xmlns:a="http://schemas.openxmlformats.org/drawingml/2006/main">
            <a:r>
              <a:t>Sources: notes/pitch-plan.md (draft, 11 October 2026); https://www.invertix.ai/security (visual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REQ-G60-US-001, the charging requirement. Show its evidence grade and score as separate signals. Click into the source trace and briefly show disagreeing evidence. Do not imply sample counts represent market share.</a:t>
            </a:r>
          </a:p>
          <a:p xmlns:a="http://schemas.openxmlformats.org/drawingml/2006/main">
            <a:r>
              <a:t/>
            </a:r>
          </a:p>
          <a:p xmlns:a="http://schemas.openxmlformats.org/drawingml/2006/main">
            <a:r>
              <a:t>Sources: notes/pitch-plan.md (draft, 11 October 2026); https://www.invertix.ai/security (visual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 proposes a target labelled PM assumption because the feedback does not justify the number. Only the PM can approve. An edit and reason create a new immutable requirement version linked to its score and audit event.</a:t>
            </a:r>
          </a:p>
          <a:p xmlns:a="http://schemas.openxmlformats.org/drawingml/2006/main">
            <a:r>
              <a:t/>
            </a:r>
          </a:p>
          <a:p xmlns:a="http://schemas.openxmlformats.org/drawingml/2006/main">
            <a:r>
              <a:t>Sources: notes/pitch-plan.md (draft, 11 October 2026); https://www.invertix.ai/security (visual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update batch is simulated because the supplied feedback has no dates. Demonstrate the approved baseline next to the proposed change only if that path has passed the demo preflight. The intended review scope is the affected charging decision, not a full re-review.</a:t>
            </a:r>
          </a:p>
          <a:p xmlns:a="http://schemas.openxmlformats.org/drawingml/2006/main">
            <a:r>
              <a:t/>
            </a:r>
          </a:p>
          <a:p xmlns:a="http://schemas.openxmlformats.org/drawingml/2006/main">
            <a:r>
              <a:t>Sources: notes/pitch-plan.md (draft, 11 October 2026); https://www.invertix.ai/security (visual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one sentence. The pipeline is scoped by vehicle and market. Governed operations are exposed through MCP. Decided requirements are intended to move upstream of Codebeamer, without claiming a live Codebeamer integration. The live demo remains the proof.</a:t>
            </a:r>
          </a:p>
          <a:p xmlns:a="http://schemas.openxmlformats.org/drawingml/2006/main">
            <a:r>
              <a:t/>
            </a:r>
          </a:p>
          <a:p xmlns:a="http://schemas.openxmlformats.org/drawingml/2006/main">
            <a:r>
              <a:t>Sources: notes/pitch-plan.md (draft, 11 October 2026); https://www.invertix.ai/security (visual reference).  Copper texture cropped from the visual reference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c118a1ae174c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223727b10e24bd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b652b7ed2c245d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577bdf6502945b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39fa6e475694f3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e008f93b2d841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94C3F78-35BF-4654-A953-EA0791E173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B16C6F1-8EE9-44B7-B28C-9D34F893269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571BFFF-AD0D-42FB-8F8E-6E5DBD24417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293382-6BAB-4ECA-B02D-FFD462E7CA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8657996-B4D9-4F4A-A3F3-462F57A81D3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06D4BF-86E3-4DE4-94A4-C0AE4274955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C50EAD6-23D1-499E-A07B-43A03AA12C6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2245DA7-26C3-4FCB-A58E-8855E247094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6C4B1A-561F-4AEA-AAFA-0ECEC5D7F3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5036075-C688-4E05-A792-B6943165529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a0452f9ce214a99" /><Relationship Type="http://schemas.openxmlformats.org/officeDocument/2006/relationships/slideLayout" Target="/ppt/slideLayouts/slideLayout1.xml" Id="Rea4880bf7a1842a9" /><Relationship Type="http://schemas.openxmlformats.org/officeDocument/2006/relationships/slideLayout" Target="/ppt/slideLayouts/slideLayout2.xml" Id="Rf13ee964bd854888" /><Relationship Type="http://schemas.openxmlformats.org/officeDocument/2006/relationships/slideLayout" Target="/ppt/slideLayouts/slideLayout3.xml" Id="Rd2c08d263dcf4185" /><Relationship Type="http://schemas.openxmlformats.org/officeDocument/2006/relationships/slideLayout" Target="/ppt/slideLayouts/slideLayout4.xml" Id="Rdd7300ef87a144c0" /><Relationship Type="http://schemas.openxmlformats.org/officeDocument/2006/relationships/slideLayout" Target="/ppt/slideLayouts/slideLayout5.xml" Id="R17f2c25fc50d4370" /><Relationship Type="http://schemas.openxmlformats.org/officeDocument/2006/relationships/slideLayout" Target="/ppt/slideLayouts/slideLayout6.xml" Id="R353c50f6d8534a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a4880bf7a1842a9"/>
    <p:sldLayoutId xmlns:r="http://schemas.openxmlformats.org/officeDocument/2006/relationships" id="2147483650" r:id="Rf13ee964bd854888"/>
    <p:sldLayoutId xmlns:r="http://schemas.openxmlformats.org/officeDocument/2006/relationships" id="2147483651" r:id="Rd2c08d263dcf4185"/>
    <p:sldLayoutId xmlns:r="http://schemas.openxmlformats.org/officeDocument/2006/relationships" id="2147483652" r:id="Rdd7300ef87a144c0"/>
    <p:sldLayoutId xmlns:r="http://schemas.openxmlformats.org/officeDocument/2006/relationships" id="2147483653" r:id="R17f2c25fc50d4370"/>
    <p:sldLayoutId xmlns:r="http://schemas.openxmlformats.org/officeDocument/2006/relationships" id="2147483654" r:id="R353c50f6d8534a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29b6140df534cce" /><Relationship Type="http://schemas.openxmlformats.org/officeDocument/2006/relationships/image" Target="/ppt/media/image.jpeg" Id="R2ef166cd4be8447b" /><Relationship Type="http://schemas.openxmlformats.org/officeDocument/2006/relationships/notesSlide" Target="/ppt/notesSlides/notesSlide1.xml" Id="R21ccc41e7f9c4d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27104387a624a3d" /><Relationship Type="http://schemas.openxmlformats.org/officeDocument/2006/relationships/image" Target="/ppt/media/image.png" Id="Rd5643fe3d7a648d3" /><Relationship Type="http://schemas.openxmlformats.org/officeDocument/2006/relationships/image" Target="/ppt/media/image.svg" Id="R821817de789d44fa" /><Relationship Type="http://schemas.openxmlformats.org/officeDocument/2006/relationships/image" Target="/ppt/media/image2.png" Id="Rde503e0d674d4601" /><Relationship Type="http://schemas.openxmlformats.org/officeDocument/2006/relationships/image" Target="/ppt/media/image2.svg" Id="R5c72c42415df4715" /><Relationship Type="http://schemas.openxmlformats.org/officeDocument/2006/relationships/image" Target="/ppt/media/image3.png" Id="R35d2b51c0b00446a" /><Relationship Type="http://schemas.openxmlformats.org/officeDocument/2006/relationships/image" Target="/ppt/media/image3.svg" Id="R1e9247ace7d94667" /><Relationship Type="http://schemas.openxmlformats.org/officeDocument/2006/relationships/image" Target="/ppt/media/image4.png" Id="R370970278b364253" /><Relationship Type="http://schemas.openxmlformats.org/officeDocument/2006/relationships/image" Target="/ppt/media/image4.svg" Id="R1f47f016bd014bf1" /><Relationship Type="http://schemas.openxmlformats.org/officeDocument/2006/relationships/notesSlide" Target="/ppt/notesSlides/notesSlide2.xml" Id="R9cf37ad860a148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d3cfd5d72bf4893" /><Relationship Type="http://schemas.openxmlformats.org/officeDocument/2006/relationships/notesSlide" Target="/ppt/notesSlides/notesSlide3.xml" Id="R06d9316bbe8645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eb78f7a0c574155" /><Relationship Type="http://schemas.openxmlformats.org/officeDocument/2006/relationships/image" Target="/ppt/media/image5.png" Id="R7e4040a28b7240c7" /><Relationship Type="http://schemas.openxmlformats.org/officeDocument/2006/relationships/image" Target="/ppt/media/image5.svg" Id="R630e48cb09c24efd" /><Relationship Type="http://schemas.openxmlformats.org/officeDocument/2006/relationships/notesSlide" Target="/ppt/notesSlides/notesSlide4.xml" Id="Rad421195a95746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997f43ea8de4fc2" /><Relationship Type="http://schemas.openxmlformats.org/officeDocument/2006/relationships/notesSlide" Target="/ppt/notesSlides/notesSlide5.xml" Id="Re7b9a4a62be54d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b9e242f64844a1e" /><Relationship Type="http://schemas.openxmlformats.org/officeDocument/2006/relationships/image" Target="/ppt/media/image2.jpeg" Id="R22e419291ccf4cd4" /><Relationship Type="http://schemas.openxmlformats.org/officeDocument/2006/relationships/notesSlide" Target="/ppt/notesSlides/notesSlide6.xml" Id="R0c6f21b2a05b49a7" /></Relationships>
</file>

<file path=ppt/slides/slide1.xml><?xml version="1.0" encoding="utf-8"?>
<p:sld xmlns:p="http://schemas.openxmlformats.org/presentationml/2006/main">
  <p:cSld>
    <p:bg>
      <p:bgPr>
        <a:solidFill xmlns:a="http://schemas.openxmlformats.org/drawingml/2006/main">
          <a:srgbClr val="0B0B0B"/>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043FD910-39B6-49BF-8051-1C29A2B438BC}"/>
              </a:ext>
            </a:extLst>
          </p:cNvPr>
          <p:cNvPicPr>
            <a:picLocks xmlns:a="http://schemas.openxmlformats.org/drawingml/2006/main" noChangeAspect="1"/>
          </p:cNvPicPr>
          <p:nvPr/>
        </p:nvPicPr>
        <p:blipFill>
          <a:blip xmlns:r="http://schemas.openxmlformats.org/officeDocument/2006/relationships" xmlns:a="http://schemas.openxmlformats.org/drawingml/2006/main" r:embed="R2ef166cd4be8447b"/>
          <a:srcRect xmlns:a="http://schemas.openxmlformats.org/drawingml/2006/main" l="25000" t="0" r="2500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op dark band">
            <a:extLst xmlns:a="http://schemas.openxmlformats.org/drawingml/2006/main">
              <a:ext uri="{FF2B5EF4-FFF2-40B4-BE49-F238E27FC236}">
                <a16:creationId xmlns:a16="http://schemas.microsoft.com/office/drawing/2014/main" id="{FBCF84CE-3AA4-470E-BE25-15AF1773E23F}"/>
              </a:ext>
            </a:extLst>
          </p:cNvPr>
          <p:cNvSpPr>
            <a:spLocks xmlns:a="http://schemas.openxmlformats.org/drawingml/2006/main" noGrp="1"/>
          </p:cNvSpPr>
          <p:nvPr/>
        </p:nvSpPr>
        <p:spPr>
          <a:xfrm xmlns:a="http://schemas.openxmlformats.org/drawingml/2006/main">
            <a:off x="0" y="0"/>
            <a:ext cx="12192000" cy="800100"/>
          </a:xfrm>
          <a:prstGeom xmlns:a="http://schemas.openxmlformats.org/drawingml/2006/main" prst="rect">
            <a:avLst/>
          </a:prstGeom>
          <a:solidFill xmlns:a="http://schemas.openxmlformats.org/drawingml/2006/main">
            <a:srgbClr val="21110D"/>
          </a:solidFill>
          <a:ln xmlns:a="http://schemas.openxmlformats.org/drawingml/2006/main" w="0">
            <a:noFill/>
            <a:prstDash val="solid"/>
          </a:ln>
        </p:spPr>
      </p:sp>
      <p:sp>
        <p:nvSpPr>
          <p:cNvPr id="3" name="PRODUCT INTELLIGENCE / G60 ·">
            <a:extLst xmlns:a="http://schemas.openxmlformats.org/drawingml/2006/main">
              <a:ext uri="{FF2B5EF4-FFF2-40B4-BE49-F238E27FC236}">
                <a16:creationId xmlns:a16="http://schemas.microsoft.com/office/drawing/2014/main" id="{46D94822-4F9A-484C-A545-FAF1496974B7}"/>
              </a:ext>
            </a:extLst>
          </p:cNvPr>
          <p:cNvSpPr>
            <a:spLocks xmlns:a="http://schemas.openxmlformats.org/drawingml/2006/main" noGrp="1"/>
          </p:cNvSpPr>
          <p:nvPr/>
        </p:nvSpPr>
        <p:spPr>
          <a:xfrm xmlns:a="http://schemas.openxmlformats.org/drawingml/2006/main">
            <a:off x="781050" y="409575"/>
            <a:ext cx="6286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F5E7DF"/>
                </a:solidFill>
                <a:latin typeface="Helvetica Neue"/>
                <a:ea typeface="Helvetica Neue"/>
                <a:cs typeface="Helvetica Neue"/>
              </a:defRPr>
            </a:defPPr>
          </a:lstStyle>
          <a:p xmlns:a="http://schemas.openxmlformats.org/drawingml/2006/main">
            <a:pPr algn="l">
              <a:lnSpc>
                <a:spcPct val="110000"/>
              </a:lnSpc>
              <a:buNone/>
              <a:defRPr sz="1125" b="1">
                <a:solidFill>
                  <a:srgbClr val="F5E7DF"/>
                </a:solidFill>
                <a:latin typeface="Helvetica Neue"/>
                <a:ea typeface="Helvetica Neue"/>
                <a:cs typeface="Helvetica Neue"/>
              </a:defRPr>
            </a:pPr>
            <a:r>
              <a:rPr sz="1125" b="1">
                <a:solidFill>
                  <a:srgbClr val="F5E7DF"/>
                </a:solidFill>
                <a:latin typeface="Helvetica Neue"/>
                <a:ea typeface="Helvetica Neue"/>
                <a:cs typeface="Helvetica Neue"/>
              </a:rPr>
              <a:t>PRODUCT INTELLIGENCE / G60 · US</a:t>
            </a:r>
          </a:p>
        </p:txBody>
      </p:sp>
      <p:sp>
        <p:nvSpPr>
          <p:cNvPr id="4" name="Every requirement begins&#10;wit">
            <a:extLst xmlns:a="http://schemas.openxmlformats.org/drawingml/2006/main">
              <a:ext uri="{FF2B5EF4-FFF2-40B4-BE49-F238E27FC236}">
                <a16:creationId xmlns:a16="http://schemas.microsoft.com/office/drawing/2014/main" id="{461207D5-203E-4C6F-9AB9-79BB0FFCF6BB}"/>
              </a:ext>
            </a:extLst>
          </p:cNvPr>
          <p:cNvSpPr>
            <a:spLocks xmlns:a="http://schemas.openxmlformats.org/drawingml/2006/main" noGrp="1"/>
          </p:cNvSpPr>
          <p:nvPr/>
        </p:nvSpPr>
        <p:spPr>
          <a:xfrm xmlns:a="http://schemas.openxmlformats.org/drawingml/2006/main">
            <a:off x="800100" y="2028825"/>
            <a:ext cx="9810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50" b="0">
                <a:solidFill>
                  <a:srgbClr val="FFFFFF"/>
                </a:solidFill>
                <a:latin typeface="Baskerville"/>
                <a:ea typeface="Baskerville"/>
                <a:cs typeface="Baskerville"/>
              </a:defRPr>
            </a:defPPr>
          </a:lstStyle>
          <a:p xmlns:a="http://schemas.openxmlformats.org/drawingml/2006/main">
            <a:pPr algn="l">
              <a:lnSpc>
                <a:spcPct val="108000"/>
              </a:lnSpc>
              <a:buNone/>
              <a:defRPr sz="5250" b="0">
                <a:solidFill>
                  <a:srgbClr val="FFFFFF"/>
                </a:solidFill>
                <a:latin typeface="Baskerville"/>
                <a:ea typeface="Baskerville"/>
                <a:cs typeface="Baskerville"/>
              </a:defRPr>
            </a:pPr>
            <a:r>
              <a:rPr sz="5250" b="0">
                <a:solidFill>
                  <a:srgbClr val="FFFFFF"/>
                </a:solidFill>
                <a:latin typeface="Baskerville"/>
                <a:ea typeface="Baskerville"/>
                <a:cs typeface="Baskerville"/>
              </a:rPr>
              <a:t>Every requirement begins</a:t>
            </a:r>
          </a:p>
          <a:p xmlns:a="http://schemas.openxmlformats.org/drawingml/2006/main">
            <a:pPr algn="l">
              <a:lnSpc>
                <a:spcPct val="108000"/>
              </a:lnSpc>
              <a:buNone/>
              <a:defRPr sz="5250" b="0">
                <a:solidFill>
                  <a:srgbClr val="FFFFFF"/>
                </a:solidFill>
                <a:latin typeface="Baskerville"/>
                <a:ea typeface="Baskerville"/>
                <a:cs typeface="Baskerville"/>
              </a:defRPr>
            </a:pPr>
            <a:r>
              <a:rPr sz="5250" b="0">
                <a:solidFill>
                  <a:srgbClr val="FFFFFF"/>
                </a:solidFill>
                <a:latin typeface="Baskerville"/>
                <a:ea typeface="Baskerville"/>
                <a:cs typeface="Baskerville"/>
              </a:rPr>
              <a:t>with the customer</a:t>
            </a:r>
          </a:p>
        </p:txBody>
      </p:sp>
      <p:sp>
        <p:nvSpPr>
          <p:cNvPr id="5" name="Agents read and draft. The p">
            <a:extLst xmlns:a="http://schemas.openxmlformats.org/drawingml/2006/main">
              <a:ext uri="{FF2B5EF4-FFF2-40B4-BE49-F238E27FC236}">
                <a16:creationId xmlns:a16="http://schemas.microsoft.com/office/drawing/2014/main" id="{4240281E-2C66-4287-B349-CEBAADCD7EDA}"/>
              </a:ext>
            </a:extLst>
          </p:cNvPr>
          <p:cNvSpPr>
            <a:spLocks xmlns:a="http://schemas.openxmlformats.org/drawingml/2006/main" noGrp="1"/>
          </p:cNvSpPr>
          <p:nvPr/>
        </p:nvSpPr>
        <p:spPr>
          <a:xfrm xmlns:a="http://schemas.openxmlformats.org/drawingml/2006/main">
            <a:off x="819150" y="4933950"/>
            <a:ext cx="7810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7E6DC"/>
                </a:solidFill>
                <a:latin typeface="Helvetica Neue"/>
                <a:ea typeface="Helvetica Neue"/>
                <a:cs typeface="Helvetica Neue"/>
              </a:defRPr>
            </a:defPPr>
          </a:lstStyle>
          <a:p xmlns:a="http://schemas.openxmlformats.org/drawingml/2006/main">
            <a:pPr algn="l">
              <a:lnSpc>
                <a:spcPct val="118000"/>
              </a:lnSpc>
              <a:buNone/>
              <a:defRPr sz="1950" b="0">
                <a:solidFill>
                  <a:srgbClr val="F7E6DC"/>
                </a:solidFill>
                <a:latin typeface="Helvetica Neue"/>
                <a:ea typeface="Helvetica Neue"/>
                <a:cs typeface="Helvetica Neue"/>
              </a:defRPr>
            </a:pPr>
            <a:r>
              <a:rPr sz="1950" b="0">
                <a:solidFill>
                  <a:srgbClr val="F7E6DC"/>
                </a:solidFill>
                <a:latin typeface="Helvetica Neue"/>
                <a:ea typeface="Helvetica Neue"/>
                <a:cs typeface="Helvetica Neue"/>
              </a:rPr>
              <a:t>Agents read and draft. The product manager decides.</a:t>
            </a:r>
          </a:p>
        </p:txBody>
      </p:sp>
    </p:spTree>
    <p:extLst>
      <p:ext uri="{BB962C8B-B14F-4D97-AF65-F5344CB8AC3E}">
        <p14:creationId xmlns:p14="http://schemas.microsoft.com/office/powerpoint/2010/main" val="1837782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HE G60 / US PILOT">
            <a:extLst xmlns:a="http://schemas.openxmlformats.org/drawingml/2006/main">
              <a:ext uri="{FF2B5EF4-FFF2-40B4-BE49-F238E27FC236}">
                <a16:creationId xmlns:a16="http://schemas.microsoft.com/office/drawing/2014/main" id="{6B71CB12-7DAE-4338-91C3-5BEF512F74AE}"/>
              </a:ext>
            </a:extLst>
          </p:cNvPr>
          <p:cNvSpPr>
            <a:spLocks xmlns:a="http://schemas.openxmlformats.org/drawingml/2006/main" noGrp="1"/>
          </p:cNvSpPr>
          <p:nvPr/>
        </p:nvSpPr>
        <p:spPr>
          <a:xfrm xmlns:a="http://schemas.openxmlformats.org/drawingml/2006/main">
            <a:off x="781050" y="628650"/>
            <a:ext cx="6286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626262"/>
                </a:solidFill>
                <a:latin typeface="Helvetica Neue"/>
                <a:ea typeface="Helvetica Neue"/>
                <a:cs typeface="Helvetica Neue"/>
              </a:defRPr>
            </a:defPPr>
          </a:lstStyle>
          <a:p xmlns:a="http://schemas.openxmlformats.org/drawingml/2006/main">
            <a:pPr algn="l">
              <a:lnSpc>
                <a:spcPct val="110000"/>
              </a:lnSpc>
              <a:buNone/>
              <a:defRPr sz="1125" b="1">
                <a:solidFill>
                  <a:srgbClr val="626262"/>
                </a:solidFill>
                <a:latin typeface="Helvetica Neue"/>
                <a:ea typeface="Helvetica Neue"/>
                <a:cs typeface="Helvetica Neue"/>
              </a:defRPr>
            </a:pPr>
            <a:r>
              <a:rPr sz="1125" b="1">
                <a:solidFill>
                  <a:srgbClr val="626262"/>
                </a:solidFill>
                <a:latin typeface="Helvetica Neue"/>
                <a:ea typeface="Helvetica Neue"/>
                <a:cs typeface="Helvetica Neue"/>
              </a:rPr>
              <a:t>THE G60 / US PILOT</a:t>
            </a:r>
          </a:p>
        </p:txBody>
      </p:sp>
      <p:sp>
        <p:nvSpPr>
          <p:cNvPr id="2" name="The G60 / US evidence">
            <a:extLst xmlns:a="http://schemas.openxmlformats.org/drawingml/2006/main">
              <a:ext uri="{FF2B5EF4-FFF2-40B4-BE49-F238E27FC236}">
                <a16:creationId xmlns:a16="http://schemas.microsoft.com/office/drawing/2014/main" id="{EF5A5031-1853-4696-8B80-51D5382E080C}"/>
              </a:ext>
            </a:extLst>
          </p:cNvPr>
          <p:cNvSpPr>
            <a:spLocks xmlns:a="http://schemas.openxmlformats.org/drawingml/2006/main" noGrp="1"/>
          </p:cNvSpPr>
          <p:nvPr/>
        </p:nvSpPr>
        <p:spPr>
          <a:xfrm xmlns:a="http://schemas.openxmlformats.org/drawingml/2006/main">
            <a:off x="781050" y="876300"/>
            <a:ext cx="10572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425" b="0">
                <a:solidFill>
                  <a:srgbClr val="202020"/>
                </a:solidFill>
                <a:latin typeface="Baskerville"/>
                <a:ea typeface="Baskerville"/>
                <a:cs typeface="Baskerville"/>
              </a:defRPr>
            </a:defPPr>
          </a:lstStyle>
          <a:p xmlns:a="http://schemas.openxmlformats.org/drawingml/2006/main">
            <a:pPr algn="l">
              <a:lnSpc>
                <a:spcPct val="110000"/>
              </a:lnSpc>
              <a:buNone/>
              <a:defRPr sz="4425" b="0">
                <a:solidFill>
                  <a:srgbClr val="202020"/>
                </a:solidFill>
                <a:latin typeface="Baskerville"/>
                <a:ea typeface="Baskerville"/>
                <a:cs typeface="Baskerville"/>
              </a:defRPr>
            </a:pPr>
            <a:r>
              <a:rPr sz="4425" b="0">
                <a:solidFill>
                  <a:srgbClr val="202020"/>
                </a:solidFill>
                <a:latin typeface="Baskerville"/>
                <a:ea typeface="Baskerville"/>
                <a:cs typeface="Baskerville"/>
              </a:rPr>
              <a:t>The G60 / US evidence</a:t>
            </a:r>
          </a:p>
        </p:txBody>
      </p:sp>
      <p:sp>
        <p:nvSpPr>
          <p:cNvPr id="3" name="The pilot can explain its sa">
            <a:extLst xmlns:a="http://schemas.openxmlformats.org/drawingml/2006/main">
              <a:ext uri="{FF2B5EF4-FFF2-40B4-BE49-F238E27FC236}">
                <a16:creationId xmlns:a16="http://schemas.microsoft.com/office/drawing/2014/main" id="{58C49072-3935-4B70-B6AC-EB966B513997}"/>
              </a:ext>
            </a:extLst>
          </p:cNvPr>
          <p:cNvSpPr>
            <a:spLocks xmlns:a="http://schemas.openxmlformats.org/drawingml/2006/main" noGrp="1"/>
          </p:cNvSpPr>
          <p:nvPr/>
        </p:nvSpPr>
        <p:spPr>
          <a:xfrm xmlns:a="http://schemas.openxmlformats.org/drawingml/2006/main">
            <a:off x="800100" y="1657350"/>
            <a:ext cx="10382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26262"/>
                </a:solidFill>
                <a:latin typeface="Helvetica Neue"/>
                <a:ea typeface="Helvetica Neue"/>
                <a:cs typeface="Helvetica Neue"/>
              </a:defRPr>
            </a:defPPr>
          </a:lstStyle>
          <a:p xmlns:a="http://schemas.openxmlformats.org/drawingml/2006/main">
            <a:pPr algn="l">
              <a:lnSpc>
                <a:spcPct val="110000"/>
              </a:lnSpc>
              <a:buNone/>
              <a:defRPr sz="1800" b="0">
                <a:solidFill>
                  <a:srgbClr val="626262"/>
                </a:solidFill>
                <a:latin typeface="Helvetica Neue"/>
                <a:ea typeface="Helvetica Neue"/>
                <a:cs typeface="Helvetica Neue"/>
              </a:defRPr>
            </a:pPr>
            <a:r>
              <a:rPr sz="1800" b="0">
                <a:solidFill>
                  <a:srgbClr val="626262"/>
                </a:solidFill>
                <a:latin typeface="Helvetica Neue"/>
                <a:ea typeface="Helvetica Neue"/>
                <a:cs typeface="Helvetica Neue"/>
              </a:rPr>
              <a:t>The pilot can explain its sample before asking for a decision.</a:t>
            </a:r>
          </a:p>
        </p:txBody>
      </p:sp>
      <p:sp>
        <p:nvSpPr>
          <p:cNvPr id="4" name="evidence tile 1">
            <a:extLst xmlns:a="http://schemas.openxmlformats.org/drawingml/2006/main">
              <a:ext uri="{FF2B5EF4-FFF2-40B4-BE49-F238E27FC236}">
                <a16:creationId xmlns:a16="http://schemas.microsoft.com/office/drawing/2014/main" id="{635A9E00-B5EC-4F73-8605-B31ECBE9A31E}"/>
              </a:ext>
            </a:extLst>
          </p:cNvPr>
          <p:cNvSpPr>
            <a:spLocks xmlns:a="http://schemas.openxmlformats.org/drawingml/2006/main" noGrp="1"/>
          </p:cNvSpPr>
          <p:nvPr/>
        </p:nvSpPr>
        <p:spPr>
          <a:xfrm xmlns:a="http://schemas.openxmlformats.org/drawingml/2006/main">
            <a:off x="781050" y="2705100"/>
            <a:ext cx="2466975" cy="3038475"/>
          </a:xfrm>
          <a:prstGeom xmlns:a="http://schemas.openxmlformats.org/drawingml/2006/main" prst="rect">
            <a:avLst/>
          </a:prstGeom>
          <a:solidFill xmlns:a="http://schemas.openxmlformats.org/drawingml/2006/main">
            <a:srgbClr val="F5F5F5"/>
          </a:solidFill>
          <a:ln xmlns:a="http://schemas.openxmlformats.org/drawingml/2006/main" w="0">
            <a:noFill/>
            <a:prstDash val="solid"/>
          </a:ln>
        </p:spPr>
      </p:sp>
      <p:pic>
        <p:nvPicPr>
          <p:cNvPr id="5" name="">
            <a:extLst xmlns:a="http://schemas.openxmlformats.org/drawingml/2006/main">
              <a:ext uri="{FF2B5EF4-FFF2-40B4-BE49-F238E27FC236}">
                <a16:creationId xmlns:a16="http://schemas.microsoft.com/office/drawing/2014/main" id="{5D0C774A-C6FE-4477-9B65-E199458A02F4}"/>
              </a:ext>
            </a:extLst>
          </p:cNvPr>
          <p:cNvPicPr>
            <a:picLocks xmlns:a="http://schemas.openxmlformats.org/drawingml/2006/main" noChangeAspect="1"/>
          </p:cNvPicPr>
          <p:nvPr/>
        </p:nvPicPr>
        <p:blipFill>
          <a:blip xmlns:r="http://schemas.openxmlformats.org/officeDocument/2006/relationships" xmlns:a="http://schemas.openxmlformats.org/drawingml/2006/main" r:embed="Rd5643fe3d7a648d3">
            <a:extLst>
              <a:ext uri="{96DAC541-7B7A-43D3-8B79-37D633B846F1}">
                <asvg:svgBlip xmlns:asvg="http://schemas.microsoft.com/office/drawing/2016/SVG/main" r:embed="R821817de789d44fa"/>
              </a:ext>
            </a:extLst>
          </a:blip>
          <a:stretch xmlns:a="http://schemas.openxmlformats.org/drawingml/2006/main"/>
        </p:blipFill>
        <p:spPr>
          <a:xfrm xmlns:a="http://schemas.openxmlformats.org/drawingml/2006/main">
            <a:off x="1066800" y="2990850"/>
            <a:ext cx="400050" cy="400050"/>
          </a:xfrm>
          <a:prstGeom xmlns:a="http://schemas.openxmlformats.org/drawingml/2006/main" prst="rect">
            <a:avLst/>
          </a:prstGeom>
        </p:spPr>
      </p:pic>
      <p:sp>
        <p:nvSpPr>
          <p:cNvPr id="6" name="4,365 records">
            <a:extLst xmlns:a="http://schemas.openxmlformats.org/drawingml/2006/main">
              <a:ext uri="{FF2B5EF4-FFF2-40B4-BE49-F238E27FC236}">
                <a16:creationId xmlns:a16="http://schemas.microsoft.com/office/drawing/2014/main" id="{1EA55369-E413-4EC7-AF74-5961FB4148F2}"/>
              </a:ext>
            </a:extLst>
          </p:cNvPr>
          <p:cNvSpPr>
            <a:spLocks xmlns:a="http://schemas.openxmlformats.org/drawingml/2006/main" noGrp="1"/>
          </p:cNvSpPr>
          <p:nvPr/>
        </p:nvSpPr>
        <p:spPr>
          <a:xfrm xmlns:a="http://schemas.openxmlformats.org/drawingml/2006/main">
            <a:off x="1047750" y="3905250"/>
            <a:ext cx="1952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202020"/>
                </a:solidFill>
                <a:latin typeface="Helvetica Neue"/>
                <a:ea typeface="Helvetica Neue"/>
                <a:cs typeface="Helvetica Neue"/>
              </a:defRPr>
            </a:defPPr>
          </a:lstStyle>
          <a:p xmlns:a="http://schemas.openxmlformats.org/drawingml/2006/main">
            <a:pPr algn="l">
              <a:lnSpc>
                <a:spcPct val="110000"/>
              </a:lnSpc>
              <a:buNone/>
              <a:defRPr sz="2100" b="0">
                <a:solidFill>
                  <a:srgbClr val="202020"/>
                </a:solidFill>
                <a:latin typeface="Helvetica Neue"/>
                <a:ea typeface="Helvetica Neue"/>
                <a:cs typeface="Helvetica Neue"/>
              </a:defRPr>
            </a:pPr>
            <a:r>
              <a:rPr sz="2100" b="0">
                <a:solidFill>
                  <a:srgbClr val="202020"/>
                </a:solidFill>
                <a:latin typeface="Helvetica Neue"/>
                <a:ea typeface="Helvetica Neue"/>
                <a:cs typeface="Helvetica Neue"/>
              </a:rPr>
              <a:t>4,365 records</a:t>
            </a:r>
          </a:p>
        </p:txBody>
      </p:sp>
      <p:sp>
        <p:nvSpPr>
          <p:cNvPr id="7" name="Actual G60 / US feedback in ">
            <a:extLst xmlns:a="http://schemas.openxmlformats.org/drawingml/2006/main">
              <a:ext uri="{FF2B5EF4-FFF2-40B4-BE49-F238E27FC236}">
                <a16:creationId xmlns:a16="http://schemas.microsoft.com/office/drawing/2014/main" id="{E9B5A361-48FE-484E-84A5-2C9D862392FA}"/>
              </a:ext>
            </a:extLst>
          </p:cNvPr>
          <p:cNvSpPr>
            <a:spLocks xmlns:a="http://schemas.openxmlformats.org/drawingml/2006/main" noGrp="1"/>
          </p:cNvSpPr>
          <p:nvPr/>
        </p:nvSpPr>
        <p:spPr>
          <a:xfrm xmlns:a="http://schemas.openxmlformats.org/drawingml/2006/main">
            <a:off x="1047750" y="4457700"/>
            <a:ext cx="1952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26262"/>
                </a:solidFill>
                <a:latin typeface="Helvetica Neue"/>
                <a:ea typeface="Helvetica Neue"/>
                <a:cs typeface="Helvetica Neue"/>
              </a:defRPr>
            </a:defPPr>
          </a:lstStyle>
          <a:p xmlns:a="http://schemas.openxmlformats.org/drawingml/2006/main">
            <a:pPr algn="l">
              <a:lnSpc>
                <a:spcPct val="125000"/>
              </a:lnSpc>
              <a:buNone/>
              <a:defRPr sz="1500" b="0">
                <a:solidFill>
                  <a:srgbClr val="626262"/>
                </a:solidFill>
                <a:latin typeface="Helvetica Neue"/>
                <a:ea typeface="Helvetica Neue"/>
                <a:cs typeface="Helvetica Neue"/>
              </a:defRPr>
            </a:pPr>
            <a:r>
              <a:rPr sz="1500" b="0">
                <a:solidFill>
                  <a:srgbClr val="626262"/>
                </a:solidFill>
                <a:latin typeface="Helvetica Neue"/>
                <a:ea typeface="Helvetica Neue"/>
                <a:cs typeface="Helvetica Neue"/>
              </a:rPr>
              <a:t>Actual G60 / US feedback in the prototype</a:t>
            </a:r>
          </a:p>
        </p:txBody>
      </p:sp>
      <p:sp>
        <p:nvSpPr>
          <p:cNvPr id="8" name="evidence tile 2">
            <a:extLst xmlns:a="http://schemas.openxmlformats.org/drawingml/2006/main">
              <a:ext uri="{FF2B5EF4-FFF2-40B4-BE49-F238E27FC236}">
                <a16:creationId xmlns:a16="http://schemas.microsoft.com/office/drawing/2014/main" id="{94A41CAE-CBBE-4476-A26F-0B71B2EE213E}"/>
              </a:ext>
            </a:extLst>
          </p:cNvPr>
          <p:cNvSpPr>
            <a:spLocks xmlns:a="http://schemas.openxmlformats.org/drawingml/2006/main" noGrp="1"/>
          </p:cNvSpPr>
          <p:nvPr/>
        </p:nvSpPr>
        <p:spPr>
          <a:xfrm xmlns:a="http://schemas.openxmlformats.org/drawingml/2006/main">
            <a:off x="3457575" y="2705100"/>
            <a:ext cx="2466975" cy="3038475"/>
          </a:xfrm>
          <a:prstGeom xmlns:a="http://schemas.openxmlformats.org/drawingml/2006/main" prst="rect">
            <a:avLst/>
          </a:prstGeom>
          <a:solidFill xmlns:a="http://schemas.openxmlformats.org/drawingml/2006/main">
            <a:srgbClr val="F5F5F5"/>
          </a:solidFill>
          <a:ln xmlns:a="http://schemas.openxmlformats.org/drawingml/2006/main" w="0">
            <a:noFill/>
            <a:prstDash val="solid"/>
          </a:ln>
        </p:spPr>
      </p:sp>
      <p:pic>
        <p:nvPicPr>
          <p:cNvPr id="9" name="">
            <a:extLst xmlns:a="http://schemas.openxmlformats.org/drawingml/2006/main">
              <a:ext uri="{FF2B5EF4-FFF2-40B4-BE49-F238E27FC236}">
                <a16:creationId xmlns:a16="http://schemas.microsoft.com/office/drawing/2014/main" id="{6833755C-8D25-470A-AB51-BE7A1CEBB479}"/>
              </a:ext>
            </a:extLst>
          </p:cNvPr>
          <p:cNvPicPr>
            <a:picLocks xmlns:a="http://schemas.openxmlformats.org/drawingml/2006/main" noChangeAspect="1"/>
          </p:cNvPicPr>
          <p:nvPr/>
        </p:nvPicPr>
        <p:blipFill>
          <a:blip xmlns:r="http://schemas.openxmlformats.org/officeDocument/2006/relationships" xmlns:a="http://schemas.openxmlformats.org/drawingml/2006/main" r:embed="Rde503e0d674d4601">
            <a:extLst>
              <a:ext uri="{96DAC541-7B7A-43D3-8B79-37D633B846F1}">
                <asvg:svgBlip xmlns:asvg="http://schemas.microsoft.com/office/drawing/2016/SVG/main" r:embed="R5c72c42415df4715"/>
              </a:ext>
            </a:extLst>
          </a:blip>
          <a:stretch xmlns:a="http://schemas.openxmlformats.org/drawingml/2006/main"/>
        </p:blipFill>
        <p:spPr>
          <a:xfrm xmlns:a="http://schemas.openxmlformats.org/drawingml/2006/main">
            <a:off x="3743325" y="2990850"/>
            <a:ext cx="400050" cy="400050"/>
          </a:xfrm>
          <a:prstGeom xmlns:a="http://schemas.openxmlformats.org/drawingml/2006/main" prst="rect">
            <a:avLst/>
          </a:prstGeom>
        </p:spPr>
      </p:pic>
      <p:sp>
        <p:nvSpPr>
          <p:cNvPr id="10" name="72.7%">
            <a:extLst xmlns:a="http://schemas.openxmlformats.org/drawingml/2006/main">
              <a:ext uri="{FF2B5EF4-FFF2-40B4-BE49-F238E27FC236}">
                <a16:creationId xmlns:a16="http://schemas.microsoft.com/office/drawing/2014/main" id="{360F34C0-53C6-4CEA-8BF0-00DFA620661B}"/>
              </a:ext>
            </a:extLst>
          </p:cNvPr>
          <p:cNvSpPr>
            <a:spLocks xmlns:a="http://schemas.openxmlformats.org/drawingml/2006/main" noGrp="1"/>
          </p:cNvSpPr>
          <p:nvPr/>
        </p:nvSpPr>
        <p:spPr>
          <a:xfrm xmlns:a="http://schemas.openxmlformats.org/drawingml/2006/main">
            <a:off x="3724275" y="3905250"/>
            <a:ext cx="1952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202020"/>
                </a:solidFill>
                <a:latin typeface="Helvetica Neue"/>
                <a:ea typeface="Helvetica Neue"/>
                <a:cs typeface="Helvetica Neue"/>
              </a:defRPr>
            </a:defPPr>
          </a:lstStyle>
          <a:p xmlns:a="http://schemas.openxmlformats.org/drawingml/2006/main">
            <a:pPr algn="l">
              <a:lnSpc>
                <a:spcPct val="110000"/>
              </a:lnSpc>
              <a:buNone/>
              <a:defRPr sz="2100" b="0">
                <a:solidFill>
                  <a:srgbClr val="202020"/>
                </a:solidFill>
                <a:latin typeface="Helvetica Neue"/>
                <a:ea typeface="Helvetica Neue"/>
                <a:cs typeface="Helvetica Neue"/>
              </a:defRPr>
            </a:pPr>
            <a:r>
              <a:rPr sz="2100" b="0">
                <a:solidFill>
                  <a:srgbClr val="202020"/>
                </a:solidFill>
                <a:latin typeface="Helvetica Neue"/>
                <a:ea typeface="Helvetica Neue"/>
                <a:cs typeface="Helvetica Neue"/>
              </a:rPr>
              <a:t>72.7%</a:t>
            </a:r>
          </a:p>
        </p:txBody>
      </p:sp>
      <p:sp>
        <p:nvSpPr>
          <p:cNvPr id="11" name="Of records come from one sou">
            <a:extLst xmlns:a="http://schemas.openxmlformats.org/drawingml/2006/main">
              <a:ext uri="{FF2B5EF4-FFF2-40B4-BE49-F238E27FC236}">
                <a16:creationId xmlns:a16="http://schemas.microsoft.com/office/drawing/2014/main" id="{870765D4-6C77-4743-8F9C-FCFCF7C1EBEC}"/>
              </a:ext>
            </a:extLst>
          </p:cNvPr>
          <p:cNvSpPr>
            <a:spLocks xmlns:a="http://schemas.openxmlformats.org/drawingml/2006/main" noGrp="1"/>
          </p:cNvSpPr>
          <p:nvPr/>
        </p:nvSpPr>
        <p:spPr>
          <a:xfrm xmlns:a="http://schemas.openxmlformats.org/drawingml/2006/main">
            <a:off x="3724275" y="4457700"/>
            <a:ext cx="1952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26262"/>
                </a:solidFill>
                <a:latin typeface="Helvetica Neue"/>
                <a:ea typeface="Helvetica Neue"/>
                <a:cs typeface="Helvetica Neue"/>
              </a:defRPr>
            </a:defPPr>
          </a:lstStyle>
          <a:p xmlns:a="http://schemas.openxmlformats.org/drawingml/2006/main">
            <a:pPr algn="l">
              <a:lnSpc>
                <a:spcPct val="125000"/>
              </a:lnSpc>
              <a:buNone/>
              <a:defRPr sz="1500" b="0">
                <a:solidFill>
                  <a:srgbClr val="626262"/>
                </a:solidFill>
                <a:latin typeface="Helvetica Neue"/>
                <a:ea typeface="Helvetica Neue"/>
                <a:cs typeface="Helvetica Neue"/>
              </a:defRPr>
            </a:pPr>
            <a:r>
              <a:rPr sz="1500" b="0">
                <a:solidFill>
                  <a:srgbClr val="626262"/>
                </a:solidFill>
                <a:latin typeface="Helvetica Neue"/>
                <a:ea typeface="Helvetica Neue"/>
                <a:cs typeface="Helvetica Neue"/>
              </a:rPr>
              <a:t>Of records come from one source</a:t>
            </a:r>
          </a:p>
        </p:txBody>
      </p:sp>
      <p:sp>
        <p:nvSpPr>
          <p:cNvPr id="12" name="evidence tile 3">
            <a:extLst xmlns:a="http://schemas.openxmlformats.org/drawingml/2006/main">
              <a:ext uri="{FF2B5EF4-FFF2-40B4-BE49-F238E27FC236}">
                <a16:creationId xmlns:a16="http://schemas.microsoft.com/office/drawing/2014/main" id="{717A7E8C-B9B1-444C-AEE1-F3C53F28B952}"/>
              </a:ext>
            </a:extLst>
          </p:cNvPr>
          <p:cNvSpPr>
            <a:spLocks xmlns:a="http://schemas.openxmlformats.org/drawingml/2006/main" noGrp="1"/>
          </p:cNvSpPr>
          <p:nvPr/>
        </p:nvSpPr>
        <p:spPr>
          <a:xfrm xmlns:a="http://schemas.openxmlformats.org/drawingml/2006/main">
            <a:off x="6134100" y="2705100"/>
            <a:ext cx="2466975" cy="3038475"/>
          </a:xfrm>
          <a:prstGeom xmlns:a="http://schemas.openxmlformats.org/drawingml/2006/main" prst="rect">
            <a:avLst/>
          </a:prstGeom>
          <a:solidFill xmlns:a="http://schemas.openxmlformats.org/drawingml/2006/main">
            <a:srgbClr val="F5F5F5"/>
          </a:solidFill>
          <a:ln xmlns:a="http://schemas.openxmlformats.org/drawingml/2006/main" w="0">
            <a:noFill/>
            <a:prstDash val="solid"/>
          </a:ln>
        </p:spPr>
      </p:sp>
      <p:pic>
        <p:nvPicPr>
          <p:cNvPr id="13" name="">
            <a:extLst xmlns:a="http://schemas.openxmlformats.org/drawingml/2006/main">
              <a:ext uri="{FF2B5EF4-FFF2-40B4-BE49-F238E27FC236}">
                <a16:creationId xmlns:a16="http://schemas.microsoft.com/office/drawing/2014/main" id="{773D68D9-2DFA-4942-99DF-3C6660DC0BB4}"/>
              </a:ext>
            </a:extLst>
          </p:cNvPr>
          <p:cNvPicPr>
            <a:picLocks xmlns:a="http://schemas.openxmlformats.org/drawingml/2006/main" noChangeAspect="1"/>
          </p:cNvPicPr>
          <p:nvPr/>
        </p:nvPicPr>
        <p:blipFill>
          <a:blip xmlns:r="http://schemas.openxmlformats.org/officeDocument/2006/relationships" xmlns:a="http://schemas.openxmlformats.org/drawingml/2006/main" r:embed="R35d2b51c0b00446a">
            <a:extLst>
              <a:ext uri="{96DAC541-7B7A-43D3-8B79-37D633B846F1}">
                <asvg:svgBlip xmlns:asvg="http://schemas.microsoft.com/office/drawing/2016/SVG/main" r:embed="R1e9247ace7d94667"/>
              </a:ext>
            </a:extLst>
          </a:blip>
          <a:stretch xmlns:a="http://schemas.openxmlformats.org/drawingml/2006/main"/>
        </p:blipFill>
        <p:spPr>
          <a:xfrm xmlns:a="http://schemas.openxmlformats.org/drawingml/2006/main">
            <a:off x="6419850" y="2990850"/>
            <a:ext cx="400050" cy="400050"/>
          </a:xfrm>
          <a:prstGeom xmlns:a="http://schemas.openxmlformats.org/drawingml/2006/main" prst="rect">
            <a:avLst/>
          </a:prstGeom>
        </p:spPr>
      </p:pic>
      <p:sp>
        <p:nvSpPr>
          <p:cNvPr id="14" name="Priority">
            <a:extLst xmlns:a="http://schemas.openxmlformats.org/drawingml/2006/main">
              <a:ext uri="{FF2B5EF4-FFF2-40B4-BE49-F238E27FC236}">
                <a16:creationId xmlns:a16="http://schemas.microsoft.com/office/drawing/2014/main" id="{64BE2681-8D3E-41FF-B440-18AC587621B6}"/>
              </a:ext>
            </a:extLst>
          </p:cNvPr>
          <p:cNvSpPr>
            <a:spLocks xmlns:a="http://schemas.openxmlformats.org/drawingml/2006/main" noGrp="1"/>
          </p:cNvSpPr>
          <p:nvPr/>
        </p:nvSpPr>
        <p:spPr>
          <a:xfrm xmlns:a="http://schemas.openxmlformats.org/drawingml/2006/main">
            <a:off x="6400800" y="3905250"/>
            <a:ext cx="1952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202020"/>
                </a:solidFill>
                <a:latin typeface="Helvetica Neue"/>
                <a:ea typeface="Helvetica Neue"/>
                <a:cs typeface="Helvetica Neue"/>
              </a:defRPr>
            </a:defPPr>
          </a:lstStyle>
          <a:p xmlns:a="http://schemas.openxmlformats.org/drawingml/2006/main">
            <a:pPr algn="l">
              <a:lnSpc>
                <a:spcPct val="110000"/>
              </a:lnSpc>
              <a:buNone/>
              <a:defRPr sz="1950" b="0">
                <a:solidFill>
                  <a:srgbClr val="202020"/>
                </a:solidFill>
                <a:latin typeface="Helvetica Neue"/>
                <a:ea typeface="Helvetica Neue"/>
                <a:cs typeface="Helvetica Neue"/>
              </a:defRPr>
            </a:pPr>
            <a:r>
              <a:rPr sz="1950" b="0">
                <a:solidFill>
                  <a:srgbClr val="202020"/>
                </a:solidFill>
                <a:latin typeface="Helvetica Neue"/>
                <a:ea typeface="Helvetica Neue"/>
                <a:cs typeface="Helvetica Neue"/>
              </a:rPr>
              <a:t>Priority</a:t>
            </a:r>
          </a:p>
        </p:txBody>
      </p:sp>
      <p:sp>
        <p:nvSpPr>
          <p:cNvPr id="15" name="A deterministic score with a">
            <a:extLst xmlns:a="http://schemas.openxmlformats.org/drawingml/2006/main">
              <a:ext uri="{FF2B5EF4-FFF2-40B4-BE49-F238E27FC236}">
                <a16:creationId xmlns:a16="http://schemas.microsoft.com/office/drawing/2014/main" id="{5596B726-C84D-4E02-9B24-31C648B5B631}"/>
              </a:ext>
            </a:extLst>
          </p:cNvPr>
          <p:cNvSpPr>
            <a:spLocks xmlns:a="http://schemas.openxmlformats.org/drawingml/2006/main" noGrp="1"/>
          </p:cNvSpPr>
          <p:nvPr/>
        </p:nvSpPr>
        <p:spPr>
          <a:xfrm xmlns:a="http://schemas.openxmlformats.org/drawingml/2006/main">
            <a:off x="6400800" y="4457700"/>
            <a:ext cx="1952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26262"/>
                </a:solidFill>
                <a:latin typeface="Helvetica Neue"/>
                <a:ea typeface="Helvetica Neue"/>
                <a:cs typeface="Helvetica Neue"/>
              </a:defRPr>
            </a:defPPr>
          </a:lstStyle>
          <a:p xmlns:a="http://schemas.openxmlformats.org/drawingml/2006/main">
            <a:pPr algn="l">
              <a:lnSpc>
                <a:spcPct val="125000"/>
              </a:lnSpc>
              <a:buNone/>
              <a:defRPr sz="1500" b="0">
                <a:solidFill>
                  <a:srgbClr val="626262"/>
                </a:solidFill>
                <a:latin typeface="Helvetica Neue"/>
                <a:ea typeface="Helvetica Neue"/>
                <a:cs typeface="Helvetica Neue"/>
              </a:defRPr>
            </a:pPr>
            <a:r>
              <a:rPr sz="1500" b="0">
                <a:solidFill>
                  <a:srgbClr val="626262"/>
                </a:solidFill>
                <a:latin typeface="Helvetica Neue"/>
                <a:ea typeface="Helvetica Neue"/>
                <a:cs typeface="Helvetica Neue"/>
              </a:rPr>
              <a:t>A deterministic score with a visible breakdown</a:t>
            </a:r>
          </a:p>
        </p:txBody>
      </p:sp>
      <p:sp>
        <p:nvSpPr>
          <p:cNvPr id="16" name="evidence tile 4">
            <a:extLst xmlns:a="http://schemas.openxmlformats.org/drawingml/2006/main">
              <a:ext uri="{FF2B5EF4-FFF2-40B4-BE49-F238E27FC236}">
                <a16:creationId xmlns:a16="http://schemas.microsoft.com/office/drawing/2014/main" id="{37680915-8799-4535-BC5E-D4956BE2819C}"/>
              </a:ext>
            </a:extLst>
          </p:cNvPr>
          <p:cNvSpPr>
            <a:spLocks xmlns:a="http://schemas.openxmlformats.org/drawingml/2006/main" noGrp="1"/>
          </p:cNvSpPr>
          <p:nvPr/>
        </p:nvSpPr>
        <p:spPr>
          <a:xfrm xmlns:a="http://schemas.openxmlformats.org/drawingml/2006/main">
            <a:off x="8810625" y="2705100"/>
            <a:ext cx="2466975" cy="3038475"/>
          </a:xfrm>
          <a:prstGeom xmlns:a="http://schemas.openxmlformats.org/drawingml/2006/main" prst="rect">
            <a:avLst/>
          </a:prstGeom>
          <a:solidFill xmlns:a="http://schemas.openxmlformats.org/drawingml/2006/main">
            <a:srgbClr val="F5F5F5"/>
          </a:solidFill>
          <a:ln xmlns:a="http://schemas.openxmlformats.org/drawingml/2006/main" w="0">
            <a:noFill/>
            <a:prstDash val="solid"/>
          </a:ln>
        </p:spPr>
      </p:sp>
      <p:pic>
        <p:nvPicPr>
          <p:cNvPr id="17" name="">
            <a:extLst xmlns:a="http://schemas.openxmlformats.org/drawingml/2006/main">
              <a:ext uri="{FF2B5EF4-FFF2-40B4-BE49-F238E27FC236}">
                <a16:creationId xmlns:a16="http://schemas.microsoft.com/office/drawing/2014/main" id="{38F81225-3351-4FE5-B69A-206E2CCB9934}"/>
              </a:ext>
            </a:extLst>
          </p:cNvPr>
          <p:cNvPicPr>
            <a:picLocks xmlns:a="http://schemas.openxmlformats.org/drawingml/2006/main" noChangeAspect="1"/>
          </p:cNvPicPr>
          <p:nvPr/>
        </p:nvPicPr>
        <p:blipFill>
          <a:blip xmlns:r="http://schemas.openxmlformats.org/officeDocument/2006/relationships" xmlns:a="http://schemas.openxmlformats.org/drawingml/2006/main" r:embed="R370970278b364253">
            <a:extLst>
              <a:ext uri="{96DAC541-7B7A-43D3-8B79-37D633B846F1}">
                <asvg:svgBlip xmlns:asvg="http://schemas.microsoft.com/office/drawing/2016/SVG/main" r:embed="R1f47f016bd014bf1"/>
              </a:ext>
            </a:extLst>
          </a:blip>
          <a:stretch xmlns:a="http://schemas.openxmlformats.org/drawingml/2006/main"/>
        </p:blipFill>
        <p:spPr>
          <a:xfrm xmlns:a="http://schemas.openxmlformats.org/drawingml/2006/main">
            <a:off x="9096375" y="2990850"/>
            <a:ext cx="400050" cy="400050"/>
          </a:xfrm>
          <a:prstGeom xmlns:a="http://schemas.openxmlformats.org/drawingml/2006/main" prst="rect">
            <a:avLst/>
          </a:prstGeom>
        </p:spPr>
      </p:pic>
      <p:sp>
        <p:nvSpPr>
          <p:cNvPr id="18" name="Evidence grade">
            <a:extLst xmlns:a="http://schemas.openxmlformats.org/drawingml/2006/main">
              <a:ext uri="{FF2B5EF4-FFF2-40B4-BE49-F238E27FC236}">
                <a16:creationId xmlns:a16="http://schemas.microsoft.com/office/drawing/2014/main" id="{CE420782-B4A7-4F72-8B65-2A82B7F50E1D}"/>
              </a:ext>
            </a:extLst>
          </p:cNvPr>
          <p:cNvSpPr>
            <a:spLocks xmlns:a="http://schemas.openxmlformats.org/drawingml/2006/main" noGrp="1"/>
          </p:cNvSpPr>
          <p:nvPr/>
        </p:nvSpPr>
        <p:spPr>
          <a:xfrm xmlns:a="http://schemas.openxmlformats.org/drawingml/2006/main">
            <a:off x="9077325" y="3905250"/>
            <a:ext cx="1952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202020"/>
                </a:solidFill>
                <a:latin typeface="Helvetica Neue"/>
                <a:ea typeface="Helvetica Neue"/>
                <a:cs typeface="Helvetica Neue"/>
              </a:defRPr>
            </a:defPPr>
          </a:lstStyle>
          <a:p xmlns:a="http://schemas.openxmlformats.org/drawingml/2006/main">
            <a:pPr algn="l">
              <a:lnSpc>
                <a:spcPct val="110000"/>
              </a:lnSpc>
              <a:buNone/>
              <a:defRPr sz="1950" b="0">
                <a:solidFill>
                  <a:srgbClr val="202020"/>
                </a:solidFill>
                <a:latin typeface="Helvetica Neue"/>
                <a:ea typeface="Helvetica Neue"/>
                <a:cs typeface="Helvetica Neue"/>
              </a:defRPr>
            </a:pPr>
            <a:r>
              <a:rPr sz="1950" b="0">
                <a:solidFill>
                  <a:srgbClr val="202020"/>
                </a:solidFill>
                <a:latin typeface="Helvetica Neue"/>
                <a:ea typeface="Helvetica Neue"/>
                <a:cs typeface="Helvetica Neue"/>
              </a:rPr>
              <a:t>Evidence grade</a:t>
            </a:r>
          </a:p>
        </p:txBody>
      </p:sp>
      <p:sp>
        <p:nvSpPr>
          <p:cNvPr id="19" name="Source strength shown separa">
            <a:extLst xmlns:a="http://schemas.openxmlformats.org/drawingml/2006/main">
              <a:ext uri="{FF2B5EF4-FFF2-40B4-BE49-F238E27FC236}">
                <a16:creationId xmlns:a16="http://schemas.microsoft.com/office/drawing/2014/main" id="{1EF3BE74-2197-4BE6-B900-C249FE51A564}"/>
              </a:ext>
            </a:extLst>
          </p:cNvPr>
          <p:cNvSpPr>
            <a:spLocks xmlns:a="http://schemas.openxmlformats.org/drawingml/2006/main" noGrp="1"/>
          </p:cNvSpPr>
          <p:nvPr/>
        </p:nvSpPr>
        <p:spPr>
          <a:xfrm xmlns:a="http://schemas.openxmlformats.org/drawingml/2006/main">
            <a:off x="9077325" y="4457700"/>
            <a:ext cx="1952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26262"/>
                </a:solidFill>
                <a:latin typeface="Helvetica Neue"/>
                <a:ea typeface="Helvetica Neue"/>
                <a:cs typeface="Helvetica Neue"/>
              </a:defRPr>
            </a:defPPr>
          </a:lstStyle>
          <a:p xmlns:a="http://schemas.openxmlformats.org/drawingml/2006/main">
            <a:pPr algn="l">
              <a:lnSpc>
                <a:spcPct val="125000"/>
              </a:lnSpc>
              <a:buNone/>
              <a:defRPr sz="1500" b="0">
                <a:solidFill>
                  <a:srgbClr val="626262"/>
                </a:solidFill>
                <a:latin typeface="Helvetica Neue"/>
                <a:ea typeface="Helvetica Neue"/>
                <a:cs typeface="Helvetica Neue"/>
              </a:defRPr>
            </a:pPr>
            <a:r>
              <a:rPr sz="1500" b="0">
                <a:solidFill>
                  <a:srgbClr val="626262"/>
                </a:solidFill>
                <a:latin typeface="Helvetica Neue"/>
                <a:ea typeface="Helvetica Neue"/>
                <a:cs typeface="Helvetica Neue"/>
              </a:rPr>
              <a:t>Source strength shown separately from priority</a:t>
            </a:r>
          </a:p>
        </p:txBody>
      </p:sp>
      <p:sp>
        <p:nvSpPr>
          <p:cNvPr id="20" name="SAMPLE COUNTS, NOT MARKET SH">
            <a:extLst xmlns:a="http://schemas.openxmlformats.org/drawingml/2006/main">
              <a:ext uri="{FF2B5EF4-FFF2-40B4-BE49-F238E27FC236}">
                <a16:creationId xmlns:a16="http://schemas.microsoft.com/office/drawing/2014/main" id="{BC366D3D-81D9-4AD9-8CB0-4BF83AB92ADE}"/>
              </a:ext>
            </a:extLst>
          </p:cNvPr>
          <p:cNvSpPr>
            <a:spLocks xmlns:a="http://schemas.openxmlformats.org/drawingml/2006/main" noGrp="1"/>
          </p:cNvSpPr>
          <p:nvPr/>
        </p:nvSpPr>
        <p:spPr>
          <a:xfrm xmlns:a="http://schemas.openxmlformats.org/drawingml/2006/main">
            <a:off x="790575" y="5981700"/>
            <a:ext cx="523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626262"/>
                </a:solidFill>
                <a:latin typeface="Helvetica Neue"/>
                <a:ea typeface="Helvetica Neue"/>
                <a:cs typeface="Helvetica Neue"/>
              </a:defRPr>
            </a:defPPr>
          </a:lstStyle>
          <a:p xmlns:a="http://schemas.openxmlformats.org/drawingml/2006/main">
            <a:pPr algn="l">
              <a:lnSpc>
                <a:spcPct val="110000"/>
              </a:lnSpc>
              <a:buNone/>
              <a:defRPr sz="975" b="0">
                <a:solidFill>
                  <a:srgbClr val="626262"/>
                </a:solidFill>
                <a:latin typeface="Helvetica Neue"/>
                <a:ea typeface="Helvetica Neue"/>
                <a:cs typeface="Helvetica Neue"/>
              </a:defRPr>
            </a:pPr>
            <a:r>
              <a:rPr sz="975" b="0">
                <a:solidFill>
                  <a:srgbClr val="626262"/>
                </a:solidFill>
                <a:latin typeface="Helvetica Neue"/>
                <a:ea typeface="Helvetica Neue"/>
                <a:cs typeface="Helvetica Neue"/>
              </a:rPr>
              <a:t>SAMPLE COUNTS, NOT MARKET SHARE</a:t>
            </a:r>
          </a:p>
        </p:txBody>
      </p:sp>
    </p:spTree>
    <p:extLst>
      <p:ext uri="{BB962C8B-B14F-4D97-AF65-F5344CB8AC3E}">
        <p14:creationId xmlns:p14="http://schemas.microsoft.com/office/powerpoint/2010/main" val="22224688"/>
      </p:ext>
    </p:extLst>
  </p:cSld>
</p:sld>
</file>

<file path=ppt/slides/slide3.xml><?xml version="1.0" encoding="utf-8"?>
<p:sld xmlns:p="http://schemas.openxmlformats.org/presentationml/2006/main">
  <p:cSld>
    <p:bg>
      <p:bgPr>
        <a:solidFill xmlns:a="http://schemas.openxmlformats.org/drawingml/2006/main">
          <a:srgbClr val="0B0B0B"/>
        </a:solidFill>
      </p:bgPr>
    </p:bg>
    <p:spTree>
      <p:nvGrpSpPr>
        <p:cNvPr id="1" name=""/>
        <p:cNvGrpSpPr/>
        <p:nvPr/>
      </p:nvGrpSpPr>
      <p:grpSpPr>
        <a:xfrm xmlns:a="http://schemas.openxmlformats.org/drawingml/2006/main"/>
      </p:grpSpPr>
      <p:sp>
        <p:nvSpPr>
          <p:cNvPr id="11" name="DECISION LOGIC">
            <a:extLst xmlns:a="http://schemas.openxmlformats.org/drawingml/2006/main">
              <a:ext uri="{FF2B5EF4-FFF2-40B4-BE49-F238E27FC236}">
                <a16:creationId xmlns:a16="http://schemas.microsoft.com/office/drawing/2014/main" id="{090F7723-E8EC-4415-A505-A5A22B8DFEA4}"/>
              </a:ext>
            </a:extLst>
          </p:cNvPr>
          <p:cNvSpPr>
            <a:spLocks xmlns:a="http://schemas.openxmlformats.org/drawingml/2006/main" noGrp="1"/>
          </p:cNvSpPr>
          <p:nvPr/>
        </p:nvSpPr>
        <p:spPr>
          <a:xfrm xmlns:a="http://schemas.openxmlformats.org/drawingml/2006/main">
            <a:off x="781050" y="628650"/>
            <a:ext cx="6286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F5E7DF"/>
                </a:solidFill>
                <a:latin typeface="Helvetica Neue"/>
                <a:ea typeface="Helvetica Neue"/>
                <a:cs typeface="Helvetica Neue"/>
              </a:defRPr>
            </a:defPPr>
          </a:lstStyle>
          <a:p xmlns:a="http://schemas.openxmlformats.org/drawingml/2006/main">
            <a:pPr algn="l">
              <a:lnSpc>
                <a:spcPct val="110000"/>
              </a:lnSpc>
              <a:buNone/>
              <a:defRPr sz="1125" b="1">
                <a:solidFill>
                  <a:srgbClr val="F5E7DF"/>
                </a:solidFill>
                <a:latin typeface="Helvetica Neue"/>
                <a:ea typeface="Helvetica Neue"/>
                <a:cs typeface="Helvetica Neue"/>
              </a:defRPr>
            </a:pPr>
            <a:r>
              <a:rPr sz="1125" b="1">
                <a:solidFill>
                  <a:srgbClr val="F5E7DF"/>
                </a:solidFill>
                <a:latin typeface="Helvetica Neue"/>
                <a:ea typeface="Helvetica Neue"/>
                <a:cs typeface="Helvetica Neue"/>
              </a:rPr>
              <a:t>DECISION LOGIC</a:t>
            </a:r>
          </a:p>
        </p:txBody>
      </p:sp>
      <p:sp>
        <p:nvSpPr>
          <p:cNvPr id="2" name="Priority and proof stay sepa">
            <a:extLst xmlns:a="http://schemas.openxmlformats.org/drawingml/2006/main">
              <a:ext uri="{FF2B5EF4-FFF2-40B4-BE49-F238E27FC236}">
                <a16:creationId xmlns:a16="http://schemas.microsoft.com/office/drawing/2014/main" id="{A7F8028A-C754-4BF4-8BB2-72B48FC3D3CF}"/>
              </a:ext>
            </a:extLst>
          </p:cNvPr>
          <p:cNvSpPr>
            <a:spLocks xmlns:a="http://schemas.openxmlformats.org/drawingml/2006/main" noGrp="1"/>
          </p:cNvSpPr>
          <p:nvPr/>
        </p:nvSpPr>
        <p:spPr>
          <a:xfrm xmlns:a="http://schemas.openxmlformats.org/drawingml/2006/main">
            <a:off x="790575" y="819150"/>
            <a:ext cx="1047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350" b="0">
                <a:solidFill>
                  <a:srgbClr val="FFFFFF"/>
                </a:solidFill>
                <a:latin typeface="Baskerville"/>
                <a:ea typeface="Baskerville"/>
                <a:cs typeface="Baskerville"/>
              </a:defRPr>
            </a:defPPr>
          </a:lstStyle>
          <a:p xmlns:a="http://schemas.openxmlformats.org/drawingml/2006/main">
            <a:pPr algn="l">
              <a:lnSpc>
                <a:spcPct val="110000"/>
              </a:lnSpc>
              <a:buNone/>
              <a:defRPr sz="4350" b="0">
                <a:solidFill>
                  <a:srgbClr val="FFFFFF"/>
                </a:solidFill>
                <a:latin typeface="Baskerville"/>
                <a:ea typeface="Baskerville"/>
                <a:cs typeface="Baskerville"/>
              </a:defRPr>
            </a:pPr>
            <a:r>
              <a:rPr sz="4350" b="0">
                <a:solidFill>
                  <a:srgbClr val="FFFFFF"/>
                </a:solidFill>
                <a:latin typeface="Baskerville"/>
                <a:ea typeface="Baskerville"/>
                <a:cs typeface="Baskerville"/>
              </a:rPr>
              <a:t>Priority and proof stay separate</a:t>
            </a:r>
          </a:p>
        </p:txBody>
      </p:sp>
      <p:sp>
        <p:nvSpPr>
          <p:cNvPr id="3" name="Priority score">
            <a:extLst xmlns:a="http://schemas.openxmlformats.org/drawingml/2006/main">
              <a:ext uri="{FF2B5EF4-FFF2-40B4-BE49-F238E27FC236}">
                <a16:creationId xmlns:a16="http://schemas.microsoft.com/office/drawing/2014/main" id="{19D3D60B-0F86-4B01-8FCA-C965EB5D49DF}"/>
              </a:ext>
            </a:extLst>
          </p:cNvPr>
          <p:cNvSpPr>
            <a:spLocks xmlns:a="http://schemas.openxmlformats.org/drawingml/2006/main" noGrp="1"/>
          </p:cNvSpPr>
          <p:nvPr/>
        </p:nvSpPr>
        <p:spPr>
          <a:xfrm xmlns:a="http://schemas.openxmlformats.org/drawingml/2006/main">
            <a:off x="800100" y="2266950"/>
            <a:ext cx="3619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F7F9FC"/>
                </a:solidFill>
                <a:latin typeface="Baskerville"/>
                <a:ea typeface="Baskerville"/>
                <a:cs typeface="Baskerville"/>
              </a:defRPr>
            </a:defPPr>
          </a:lstStyle>
          <a:p xmlns:a="http://schemas.openxmlformats.org/drawingml/2006/main">
            <a:pPr algn="l">
              <a:lnSpc>
                <a:spcPct val="110000"/>
              </a:lnSpc>
              <a:buNone/>
              <a:defRPr sz="2325" b="0">
                <a:solidFill>
                  <a:srgbClr val="F7F9FC"/>
                </a:solidFill>
                <a:latin typeface="Baskerville"/>
                <a:ea typeface="Baskerville"/>
                <a:cs typeface="Baskerville"/>
              </a:defRPr>
            </a:pPr>
            <a:r>
              <a:rPr sz="2325" b="0">
                <a:solidFill>
                  <a:srgbClr val="F7F9FC"/>
                </a:solidFill>
                <a:latin typeface="Baskerville"/>
                <a:ea typeface="Baskerville"/>
                <a:cs typeface="Baskerville"/>
              </a:rPr>
              <a:t>Priority score</a:t>
            </a:r>
          </a:p>
        </p:txBody>
      </p:sp>
      <p:sp>
        <p:nvSpPr>
          <p:cNvPr id="4" name="Code applies the declared ru">
            <a:extLst xmlns:a="http://schemas.openxmlformats.org/drawingml/2006/main">
              <a:ext uri="{FF2B5EF4-FFF2-40B4-BE49-F238E27FC236}">
                <a16:creationId xmlns:a16="http://schemas.microsoft.com/office/drawing/2014/main" id="{03B78EC4-3BD7-411F-9585-B74C80D8E7A1}"/>
              </a:ext>
            </a:extLst>
          </p:cNvPr>
          <p:cNvSpPr>
            <a:spLocks xmlns:a="http://schemas.openxmlformats.org/drawingml/2006/main" noGrp="1"/>
          </p:cNvSpPr>
          <p:nvPr/>
        </p:nvSpPr>
        <p:spPr>
          <a:xfrm xmlns:a="http://schemas.openxmlformats.org/drawingml/2006/main">
            <a:off x="4772025" y="2305050"/>
            <a:ext cx="6429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AEB0B1"/>
                </a:solidFill>
                <a:latin typeface="Helvetica Neue"/>
                <a:ea typeface="Helvetica Neue"/>
                <a:cs typeface="Helvetica Neue"/>
              </a:defRPr>
            </a:defPPr>
          </a:lstStyle>
          <a:p xmlns:a="http://schemas.openxmlformats.org/drawingml/2006/main">
            <a:pPr algn="l">
              <a:lnSpc>
                <a:spcPct val="115000"/>
              </a:lnSpc>
              <a:buNone/>
              <a:defRPr sz="1725" b="0">
                <a:solidFill>
                  <a:srgbClr val="AEB0B1"/>
                </a:solidFill>
                <a:latin typeface="Helvetica Neue"/>
                <a:ea typeface="Helvetica Neue"/>
                <a:cs typeface="Helvetica Neue"/>
              </a:defRPr>
            </a:pPr>
            <a:r>
              <a:rPr sz="1725" b="0">
                <a:solidFill>
                  <a:srgbClr val="AEB0B1"/>
                </a:solidFill>
                <a:latin typeface="Helvetica Neue"/>
                <a:ea typeface="Helvetica Neue"/>
                <a:cs typeface="Helvetica Neue"/>
              </a:rPr>
              <a:t>Code applies the declared rubric to the same inputs</a:t>
            </a:r>
          </a:p>
        </p:txBody>
      </p:sp>
      <p:sp>
        <p:nvSpPr>
          <p:cNvPr id="5" name="divider 1">
            <a:extLst xmlns:a="http://schemas.openxmlformats.org/drawingml/2006/main">
              <a:ext uri="{FF2B5EF4-FFF2-40B4-BE49-F238E27FC236}">
                <a16:creationId xmlns:a16="http://schemas.microsoft.com/office/drawing/2014/main" id="{BE8CC182-453A-4281-A49D-E4E159A6A11C}"/>
              </a:ext>
            </a:extLst>
          </p:cNvPr>
          <p:cNvSpPr>
            <a:spLocks xmlns:a="http://schemas.openxmlformats.org/drawingml/2006/main" noGrp="1"/>
          </p:cNvSpPr>
          <p:nvPr/>
        </p:nvSpPr>
        <p:spPr>
          <a:xfrm xmlns:a="http://schemas.openxmlformats.org/drawingml/2006/main">
            <a:off x="790575" y="3219450"/>
            <a:ext cx="10610850" cy="9525"/>
          </a:xfrm>
          <a:prstGeom xmlns:a="http://schemas.openxmlformats.org/drawingml/2006/main" prst="rect">
            <a:avLst/>
          </a:prstGeom>
          <a:solidFill xmlns:a="http://schemas.openxmlformats.org/drawingml/2006/main">
            <a:srgbClr val="353535"/>
          </a:solidFill>
          <a:ln xmlns:a="http://schemas.openxmlformats.org/drawingml/2006/main" w="0">
            <a:noFill/>
            <a:prstDash val="solid"/>
          </a:ln>
        </p:spPr>
      </p:sp>
      <p:sp>
        <p:nvSpPr>
          <p:cNvPr id="6" name="Evidence grade">
            <a:extLst xmlns:a="http://schemas.openxmlformats.org/drawingml/2006/main">
              <a:ext uri="{FF2B5EF4-FFF2-40B4-BE49-F238E27FC236}">
                <a16:creationId xmlns:a16="http://schemas.microsoft.com/office/drawing/2014/main" id="{3C5F374A-35F4-48C6-BDF2-63CDF99CEE24}"/>
              </a:ext>
            </a:extLst>
          </p:cNvPr>
          <p:cNvSpPr>
            <a:spLocks xmlns:a="http://schemas.openxmlformats.org/drawingml/2006/main" noGrp="1"/>
          </p:cNvSpPr>
          <p:nvPr/>
        </p:nvSpPr>
        <p:spPr>
          <a:xfrm xmlns:a="http://schemas.openxmlformats.org/drawingml/2006/main">
            <a:off x="800100" y="3448050"/>
            <a:ext cx="3619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F7F9FC"/>
                </a:solidFill>
                <a:latin typeface="Baskerville"/>
                <a:ea typeface="Baskerville"/>
                <a:cs typeface="Baskerville"/>
              </a:defRPr>
            </a:defPPr>
          </a:lstStyle>
          <a:p xmlns:a="http://schemas.openxmlformats.org/drawingml/2006/main">
            <a:pPr algn="l">
              <a:lnSpc>
                <a:spcPct val="110000"/>
              </a:lnSpc>
              <a:buNone/>
              <a:defRPr sz="2325" b="0">
                <a:solidFill>
                  <a:srgbClr val="F7F9FC"/>
                </a:solidFill>
                <a:latin typeface="Baskerville"/>
                <a:ea typeface="Baskerville"/>
                <a:cs typeface="Baskerville"/>
              </a:defRPr>
            </a:pPr>
            <a:r>
              <a:rPr sz="2325" b="0">
                <a:solidFill>
                  <a:srgbClr val="F7F9FC"/>
                </a:solidFill>
                <a:latin typeface="Baskerville"/>
                <a:ea typeface="Baskerville"/>
                <a:cs typeface="Baskerville"/>
              </a:rPr>
              <a:t>Evidence grade</a:t>
            </a:r>
          </a:p>
        </p:txBody>
      </p:sp>
      <p:sp>
        <p:nvSpPr>
          <p:cNvPr id="7" name="Source quality remains visib">
            <a:extLst xmlns:a="http://schemas.openxmlformats.org/drawingml/2006/main">
              <a:ext uri="{FF2B5EF4-FFF2-40B4-BE49-F238E27FC236}">
                <a16:creationId xmlns:a16="http://schemas.microsoft.com/office/drawing/2014/main" id="{FCA19D41-5314-4B49-9792-74C188A7CBAF}"/>
              </a:ext>
            </a:extLst>
          </p:cNvPr>
          <p:cNvSpPr>
            <a:spLocks xmlns:a="http://schemas.openxmlformats.org/drawingml/2006/main" noGrp="1"/>
          </p:cNvSpPr>
          <p:nvPr/>
        </p:nvSpPr>
        <p:spPr>
          <a:xfrm xmlns:a="http://schemas.openxmlformats.org/drawingml/2006/main">
            <a:off x="4772025" y="3486150"/>
            <a:ext cx="6429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AEB0B1"/>
                </a:solidFill>
                <a:latin typeface="Helvetica Neue"/>
                <a:ea typeface="Helvetica Neue"/>
                <a:cs typeface="Helvetica Neue"/>
              </a:defRPr>
            </a:defPPr>
          </a:lstStyle>
          <a:p xmlns:a="http://schemas.openxmlformats.org/drawingml/2006/main">
            <a:pPr algn="l">
              <a:lnSpc>
                <a:spcPct val="115000"/>
              </a:lnSpc>
              <a:buNone/>
              <a:defRPr sz="1725" b="0">
                <a:solidFill>
                  <a:srgbClr val="AEB0B1"/>
                </a:solidFill>
                <a:latin typeface="Helvetica Neue"/>
                <a:ea typeface="Helvetica Neue"/>
                <a:cs typeface="Helvetica Neue"/>
              </a:defRPr>
            </a:pPr>
            <a:r>
              <a:rPr sz="1725" b="0">
                <a:solidFill>
                  <a:srgbClr val="AEB0B1"/>
                </a:solidFill>
                <a:latin typeface="Helvetica Neue"/>
                <a:ea typeface="Helvetica Neue"/>
                <a:cs typeface="Helvetica Neue"/>
              </a:rPr>
              <a:t>Source quality remains visible even when priority is high</a:t>
            </a:r>
          </a:p>
        </p:txBody>
      </p:sp>
      <p:sp>
        <p:nvSpPr>
          <p:cNvPr id="8" name="divider 2">
            <a:extLst xmlns:a="http://schemas.openxmlformats.org/drawingml/2006/main">
              <a:ext uri="{FF2B5EF4-FFF2-40B4-BE49-F238E27FC236}">
                <a16:creationId xmlns:a16="http://schemas.microsoft.com/office/drawing/2014/main" id="{5C9C426E-5915-4654-A85E-A4F53B349BFC}"/>
              </a:ext>
            </a:extLst>
          </p:cNvPr>
          <p:cNvSpPr>
            <a:spLocks xmlns:a="http://schemas.openxmlformats.org/drawingml/2006/main" noGrp="1"/>
          </p:cNvSpPr>
          <p:nvPr/>
        </p:nvSpPr>
        <p:spPr>
          <a:xfrm xmlns:a="http://schemas.openxmlformats.org/drawingml/2006/main">
            <a:off x="790575" y="4400550"/>
            <a:ext cx="10610850" cy="9525"/>
          </a:xfrm>
          <a:prstGeom xmlns:a="http://schemas.openxmlformats.org/drawingml/2006/main" prst="rect">
            <a:avLst/>
          </a:prstGeom>
          <a:solidFill xmlns:a="http://schemas.openxmlformats.org/drawingml/2006/main">
            <a:srgbClr val="353535"/>
          </a:solidFill>
          <a:ln xmlns:a="http://schemas.openxmlformats.org/drawingml/2006/main" w="0">
            <a:noFill/>
            <a:prstDash val="solid"/>
          </a:ln>
        </p:spPr>
      </p:sp>
      <p:sp>
        <p:nvSpPr>
          <p:cNvPr id="9" name="Customer words">
            <a:extLst xmlns:a="http://schemas.openxmlformats.org/drawingml/2006/main">
              <a:ext uri="{FF2B5EF4-FFF2-40B4-BE49-F238E27FC236}">
                <a16:creationId xmlns:a16="http://schemas.microsoft.com/office/drawing/2014/main" id="{C07222AE-E613-4703-AAD6-52432A488635}"/>
              </a:ext>
            </a:extLst>
          </p:cNvPr>
          <p:cNvSpPr>
            <a:spLocks xmlns:a="http://schemas.openxmlformats.org/drawingml/2006/main" noGrp="1"/>
          </p:cNvSpPr>
          <p:nvPr/>
        </p:nvSpPr>
        <p:spPr>
          <a:xfrm xmlns:a="http://schemas.openxmlformats.org/drawingml/2006/main">
            <a:off x="800100" y="4629150"/>
            <a:ext cx="3619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F7F9FC"/>
                </a:solidFill>
                <a:latin typeface="Baskerville"/>
                <a:ea typeface="Baskerville"/>
                <a:cs typeface="Baskerville"/>
              </a:defRPr>
            </a:defPPr>
          </a:lstStyle>
          <a:p xmlns:a="http://schemas.openxmlformats.org/drawingml/2006/main">
            <a:pPr algn="l">
              <a:lnSpc>
                <a:spcPct val="110000"/>
              </a:lnSpc>
              <a:buNone/>
              <a:defRPr sz="2325" b="0">
                <a:solidFill>
                  <a:srgbClr val="F7F9FC"/>
                </a:solidFill>
                <a:latin typeface="Baskerville"/>
                <a:ea typeface="Baskerville"/>
                <a:cs typeface="Baskerville"/>
              </a:defRPr>
            </a:pPr>
            <a:r>
              <a:rPr sz="2325" b="0">
                <a:solidFill>
                  <a:srgbClr val="F7F9FC"/>
                </a:solidFill>
                <a:latin typeface="Baskerville"/>
                <a:ea typeface="Baskerville"/>
                <a:cs typeface="Baskerville"/>
              </a:rPr>
              <a:t>Customer words</a:t>
            </a:r>
          </a:p>
        </p:txBody>
      </p:sp>
      <p:sp>
        <p:nvSpPr>
          <p:cNvPr id="10" name="A requirement opens the work">
            <a:extLst xmlns:a="http://schemas.openxmlformats.org/drawingml/2006/main">
              <a:ext uri="{FF2B5EF4-FFF2-40B4-BE49-F238E27FC236}">
                <a16:creationId xmlns:a16="http://schemas.microsoft.com/office/drawing/2014/main" id="{515B1D62-08CA-46BE-8773-D09A3941F02F}"/>
              </a:ext>
            </a:extLst>
          </p:cNvPr>
          <p:cNvSpPr>
            <a:spLocks xmlns:a="http://schemas.openxmlformats.org/drawingml/2006/main" noGrp="1"/>
          </p:cNvSpPr>
          <p:nvPr/>
        </p:nvSpPr>
        <p:spPr>
          <a:xfrm xmlns:a="http://schemas.openxmlformats.org/drawingml/2006/main">
            <a:off x="4772025" y="4667250"/>
            <a:ext cx="6429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AEB0B1"/>
                </a:solidFill>
                <a:latin typeface="Helvetica Neue"/>
                <a:ea typeface="Helvetica Neue"/>
                <a:cs typeface="Helvetica Neue"/>
              </a:defRPr>
            </a:defPPr>
          </a:lstStyle>
          <a:p xmlns:a="http://schemas.openxmlformats.org/drawingml/2006/main">
            <a:pPr algn="l">
              <a:lnSpc>
                <a:spcPct val="115000"/>
              </a:lnSpc>
              <a:buNone/>
              <a:defRPr sz="1725" b="0">
                <a:solidFill>
                  <a:srgbClr val="AEB0B1"/>
                </a:solidFill>
                <a:latin typeface="Helvetica Neue"/>
                <a:ea typeface="Helvetica Neue"/>
                <a:cs typeface="Helvetica Neue"/>
              </a:defRPr>
            </a:pPr>
            <a:r>
              <a:rPr sz="1725" b="0">
                <a:solidFill>
                  <a:srgbClr val="AEB0B1"/>
                </a:solidFill>
                <a:latin typeface="Helvetica Neue"/>
                <a:ea typeface="Helvetica Neue"/>
                <a:cs typeface="Helvetica Neue"/>
              </a:rPr>
              <a:t>A requirement opens the workbook, sheet and source row</a:t>
            </a:r>
          </a:p>
        </p:txBody>
      </p:sp>
    </p:spTree>
    <p:extLst>
      <p:ext uri="{BB962C8B-B14F-4D97-AF65-F5344CB8AC3E}">
        <p14:creationId xmlns:p14="http://schemas.microsoft.com/office/powerpoint/2010/main" val="14509633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ONE CHARGING REQUIREMENT">
            <a:extLst xmlns:a="http://schemas.openxmlformats.org/drawingml/2006/main">
              <a:ext uri="{FF2B5EF4-FFF2-40B4-BE49-F238E27FC236}">
                <a16:creationId xmlns:a16="http://schemas.microsoft.com/office/drawing/2014/main" id="{9FF47070-5CBC-4028-A213-255D0323B847}"/>
              </a:ext>
            </a:extLst>
          </p:cNvPr>
          <p:cNvSpPr>
            <a:spLocks xmlns:a="http://schemas.openxmlformats.org/drawingml/2006/main" noGrp="1"/>
          </p:cNvSpPr>
          <p:nvPr/>
        </p:nvSpPr>
        <p:spPr>
          <a:xfrm xmlns:a="http://schemas.openxmlformats.org/drawingml/2006/main">
            <a:off x="781050" y="628650"/>
            <a:ext cx="6286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626262"/>
                </a:solidFill>
                <a:latin typeface="Helvetica Neue"/>
                <a:ea typeface="Helvetica Neue"/>
                <a:cs typeface="Helvetica Neue"/>
              </a:defRPr>
            </a:defPPr>
          </a:lstStyle>
          <a:p xmlns:a="http://schemas.openxmlformats.org/drawingml/2006/main">
            <a:pPr algn="l">
              <a:lnSpc>
                <a:spcPct val="110000"/>
              </a:lnSpc>
              <a:buNone/>
              <a:defRPr sz="1125" b="1">
                <a:solidFill>
                  <a:srgbClr val="626262"/>
                </a:solidFill>
                <a:latin typeface="Helvetica Neue"/>
                <a:ea typeface="Helvetica Neue"/>
                <a:cs typeface="Helvetica Neue"/>
              </a:defRPr>
            </a:pPr>
            <a:r>
              <a:rPr sz="1125" b="1">
                <a:solidFill>
                  <a:srgbClr val="626262"/>
                </a:solidFill>
                <a:latin typeface="Helvetica Neue"/>
                <a:ea typeface="Helvetica Neue"/>
                <a:cs typeface="Helvetica Neue"/>
              </a:rPr>
              <a:t>ONE CHARGING REQUIREMENT</a:t>
            </a:r>
          </a:p>
        </p:txBody>
      </p:sp>
      <p:sp>
        <p:nvSpPr>
          <p:cNvPr id="2" name="The PM owns the decision">
            <a:extLst xmlns:a="http://schemas.openxmlformats.org/drawingml/2006/main">
              <a:ext uri="{FF2B5EF4-FFF2-40B4-BE49-F238E27FC236}">
                <a16:creationId xmlns:a16="http://schemas.microsoft.com/office/drawing/2014/main" id="{D237AA7F-0500-4EF4-9808-EFD870A1ECF3}"/>
              </a:ext>
            </a:extLst>
          </p:cNvPr>
          <p:cNvSpPr>
            <a:spLocks xmlns:a="http://schemas.openxmlformats.org/drawingml/2006/main" noGrp="1"/>
          </p:cNvSpPr>
          <p:nvPr/>
        </p:nvSpPr>
        <p:spPr>
          <a:xfrm xmlns:a="http://schemas.openxmlformats.org/drawingml/2006/main">
            <a:off x="781050" y="933450"/>
            <a:ext cx="10572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425" b="0">
                <a:solidFill>
                  <a:srgbClr val="202020"/>
                </a:solidFill>
                <a:latin typeface="Baskerville"/>
                <a:ea typeface="Baskerville"/>
                <a:cs typeface="Baskerville"/>
              </a:defRPr>
            </a:defPPr>
          </a:lstStyle>
          <a:p xmlns:a="http://schemas.openxmlformats.org/drawingml/2006/main">
            <a:pPr algn="l">
              <a:lnSpc>
                <a:spcPct val="110000"/>
              </a:lnSpc>
              <a:buNone/>
              <a:defRPr sz="4425" b="0">
                <a:solidFill>
                  <a:srgbClr val="202020"/>
                </a:solidFill>
                <a:latin typeface="Baskerville"/>
                <a:ea typeface="Baskerville"/>
                <a:cs typeface="Baskerville"/>
              </a:defRPr>
            </a:pPr>
            <a:r>
              <a:rPr sz="4425" b="0">
                <a:solidFill>
                  <a:srgbClr val="202020"/>
                </a:solidFill>
                <a:latin typeface="Baskerville"/>
                <a:ea typeface="Baskerville"/>
                <a:cs typeface="Baskerville"/>
              </a:rPr>
              <a:t>The PM owns the decision</a:t>
            </a:r>
          </a:p>
        </p:txBody>
      </p:sp>
      <p:sp>
        <p:nvSpPr>
          <p:cNvPr id="3" name="requirement identity square">
            <a:extLst xmlns:a="http://schemas.openxmlformats.org/drawingml/2006/main">
              <a:ext uri="{FF2B5EF4-FFF2-40B4-BE49-F238E27FC236}">
                <a16:creationId xmlns:a16="http://schemas.microsoft.com/office/drawing/2014/main" id="{8FE750D8-B7ED-49BF-B0D7-8FFB2152BADD}"/>
              </a:ext>
            </a:extLst>
          </p:cNvPr>
          <p:cNvSpPr>
            <a:spLocks xmlns:a="http://schemas.openxmlformats.org/drawingml/2006/main" noGrp="1"/>
          </p:cNvSpPr>
          <p:nvPr/>
        </p:nvSpPr>
        <p:spPr>
          <a:xfrm xmlns:a="http://schemas.openxmlformats.org/drawingml/2006/main">
            <a:off x="790575" y="2524125"/>
            <a:ext cx="3857625" cy="3381375"/>
          </a:xfrm>
          <a:prstGeom xmlns:a="http://schemas.openxmlformats.org/drawingml/2006/main" prst="rect">
            <a:avLst/>
          </a:prstGeom>
          <a:solidFill xmlns:a="http://schemas.openxmlformats.org/drawingml/2006/main">
            <a:srgbClr val="F5F5F5"/>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7A58686B-12B6-4ABF-B355-F1F4C588FAB1}"/>
              </a:ext>
            </a:extLst>
          </p:cNvPr>
          <p:cNvPicPr>
            <a:picLocks xmlns:a="http://schemas.openxmlformats.org/drawingml/2006/main" noChangeAspect="1"/>
          </p:cNvPicPr>
          <p:nvPr/>
        </p:nvPicPr>
        <p:blipFill>
          <a:blip xmlns:r="http://schemas.openxmlformats.org/officeDocument/2006/relationships" xmlns:a="http://schemas.openxmlformats.org/drawingml/2006/main" r:embed="R7e4040a28b7240c7">
            <a:extLst>
              <a:ext uri="{96DAC541-7B7A-43D3-8B79-37D633B846F1}">
                <asvg:svgBlip xmlns:asvg="http://schemas.microsoft.com/office/drawing/2016/SVG/main" r:embed="R630e48cb09c24efd"/>
              </a:ext>
            </a:extLst>
          </a:blip>
          <a:stretch xmlns:a="http://schemas.openxmlformats.org/drawingml/2006/main"/>
        </p:blipFill>
        <p:spPr>
          <a:xfrm xmlns:a="http://schemas.openxmlformats.org/drawingml/2006/main">
            <a:off x="1066800" y="2809875"/>
            <a:ext cx="457200" cy="457200"/>
          </a:xfrm>
          <a:prstGeom xmlns:a="http://schemas.openxmlformats.org/drawingml/2006/main" prst="rect">
            <a:avLst/>
          </a:prstGeom>
        </p:spPr>
      </p:pic>
      <p:sp>
        <p:nvSpPr>
          <p:cNvPr id="5" name="REQ-G60-US-001">
            <a:extLst xmlns:a="http://schemas.openxmlformats.org/drawingml/2006/main">
              <a:ext uri="{FF2B5EF4-FFF2-40B4-BE49-F238E27FC236}">
                <a16:creationId xmlns:a16="http://schemas.microsoft.com/office/drawing/2014/main" id="{D247A316-340F-4F78-AE74-8C34537402E9}"/>
              </a:ext>
            </a:extLst>
          </p:cNvPr>
          <p:cNvSpPr>
            <a:spLocks xmlns:a="http://schemas.openxmlformats.org/drawingml/2006/main" noGrp="1"/>
          </p:cNvSpPr>
          <p:nvPr/>
        </p:nvSpPr>
        <p:spPr>
          <a:xfrm xmlns:a="http://schemas.openxmlformats.org/drawingml/2006/main">
            <a:off x="1066800" y="38385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262"/>
                </a:solidFill>
                <a:latin typeface="Helvetica Neue"/>
                <a:ea typeface="Helvetica Neue"/>
                <a:cs typeface="Helvetica Neue"/>
              </a:defRPr>
            </a:defPPr>
          </a:lstStyle>
          <a:p xmlns:a="http://schemas.openxmlformats.org/drawingml/2006/main">
            <a:pPr algn="l">
              <a:lnSpc>
                <a:spcPct val="110000"/>
              </a:lnSpc>
              <a:buNone/>
              <a:defRPr sz="1425" b="0">
                <a:solidFill>
                  <a:srgbClr val="626262"/>
                </a:solidFill>
                <a:latin typeface="Helvetica Neue"/>
                <a:ea typeface="Helvetica Neue"/>
                <a:cs typeface="Helvetica Neue"/>
              </a:defRPr>
            </a:pPr>
            <a:r>
              <a:rPr sz="1425" b="0">
                <a:solidFill>
                  <a:srgbClr val="626262"/>
                </a:solidFill>
                <a:latin typeface="Helvetica Neue"/>
                <a:ea typeface="Helvetica Neue"/>
                <a:cs typeface="Helvetica Neue"/>
              </a:rPr>
              <a:t>REQ-G60-US-001</a:t>
            </a:r>
          </a:p>
        </p:txBody>
      </p:sp>
      <p:sp>
        <p:nvSpPr>
          <p:cNvPr id="6" name="Charging">
            <a:extLst xmlns:a="http://schemas.openxmlformats.org/drawingml/2006/main">
              <a:ext uri="{FF2B5EF4-FFF2-40B4-BE49-F238E27FC236}">
                <a16:creationId xmlns:a16="http://schemas.microsoft.com/office/drawing/2014/main" id="{355299EF-56B1-480F-90F7-287D19EDF5C8}"/>
              </a:ext>
            </a:extLst>
          </p:cNvPr>
          <p:cNvSpPr>
            <a:spLocks xmlns:a="http://schemas.openxmlformats.org/drawingml/2006/main" noGrp="1"/>
          </p:cNvSpPr>
          <p:nvPr/>
        </p:nvSpPr>
        <p:spPr>
          <a:xfrm xmlns:a="http://schemas.openxmlformats.org/drawingml/2006/main">
            <a:off x="1066800" y="4286250"/>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0">
                <a:solidFill>
                  <a:srgbClr val="202020"/>
                </a:solidFill>
                <a:latin typeface="Baskerville"/>
                <a:ea typeface="Baskerville"/>
                <a:cs typeface="Baskerville"/>
              </a:defRPr>
            </a:defPPr>
          </a:lstStyle>
          <a:p xmlns:a="http://schemas.openxmlformats.org/drawingml/2006/main">
            <a:pPr algn="l">
              <a:lnSpc>
                <a:spcPct val="110000"/>
              </a:lnSpc>
              <a:buNone/>
              <a:defRPr sz="3225" b="0">
                <a:solidFill>
                  <a:srgbClr val="202020"/>
                </a:solidFill>
                <a:latin typeface="Baskerville"/>
                <a:ea typeface="Baskerville"/>
                <a:cs typeface="Baskerville"/>
              </a:defRPr>
            </a:pPr>
            <a:r>
              <a:rPr sz="3225" b="0">
                <a:solidFill>
                  <a:srgbClr val="202020"/>
                </a:solidFill>
                <a:latin typeface="Baskerville"/>
                <a:ea typeface="Baskerville"/>
                <a:cs typeface="Baskerville"/>
              </a:rPr>
              <a:t>Charging</a:t>
            </a:r>
          </a:p>
        </p:txBody>
      </p:sp>
      <p:sp>
        <p:nvSpPr>
          <p:cNvPr id="7" name="G60 / i5 M60 / US">
            <a:extLst xmlns:a="http://schemas.openxmlformats.org/drawingml/2006/main">
              <a:ext uri="{FF2B5EF4-FFF2-40B4-BE49-F238E27FC236}">
                <a16:creationId xmlns:a16="http://schemas.microsoft.com/office/drawing/2014/main" id="{A8956328-9E07-41C3-9FE3-06B518E18D2C}"/>
              </a:ext>
            </a:extLst>
          </p:cNvPr>
          <p:cNvSpPr>
            <a:spLocks xmlns:a="http://schemas.openxmlformats.org/drawingml/2006/main" noGrp="1"/>
          </p:cNvSpPr>
          <p:nvPr/>
        </p:nvSpPr>
        <p:spPr>
          <a:xfrm xmlns:a="http://schemas.openxmlformats.org/drawingml/2006/main">
            <a:off x="1076325" y="52101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Helvetica Neue"/>
                <a:ea typeface="Helvetica Neue"/>
                <a:cs typeface="Helvetica Neue"/>
              </a:defRPr>
            </a:defPPr>
          </a:lstStyle>
          <a:p xmlns:a="http://schemas.openxmlformats.org/drawingml/2006/main">
            <a:pPr algn="l">
              <a:lnSpc>
                <a:spcPct val="110000"/>
              </a:lnSpc>
              <a:buNone/>
              <a:defRPr sz="1575" b="0">
                <a:solidFill>
                  <a:srgbClr val="626262"/>
                </a:solidFill>
                <a:latin typeface="Helvetica Neue"/>
                <a:ea typeface="Helvetica Neue"/>
                <a:cs typeface="Helvetica Neue"/>
              </a:defRPr>
            </a:pPr>
            <a:r>
              <a:rPr sz="1575" b="0">
                <a:solidFill>
                  <a:srgbClr val="626262"/>
                </a:solidFill>
                <a:latin typeface="Helvetica Neue"/>
                <a:ea typeface="Helvetica Neue"/>
                <a:cs typeface="Helvetica Neue"/>
              </a:rPr>
              <a:t>G60 / i5 M60 / US</a:t>
            </a:r>
          </a:p>
        </p:txBody>
      </p:sp>
      <p:sp>
        <p:nvSpPr>
          <p:cNvPr id="8" name="01">
            <a:extLst xmlns:a="http://schemas.openxmlformats.org/drawingml/2006/main">
              <a:ext uri="{FF2B5EF4-FFF2-40B4-BE49-F238E27FC236}">
                <a16:creationId xmlns:a16="http://schemas.microsoft.com/office/drawing/2014/main" id="{D809092C-D78D-4C0E-8669-D93E89245715}"/>
              </a:ext>
            </a:extLst>
          </p:cNvPr>
          <p:cNvSpPr>
            <a:spLocks xmlns:a="http://schemas.openxmlformats.org/drawingml/2006/main" noGrp="1"/>
          </p:cNvSpPr>
          <p:nvPr/>
        </p:nvSpPr>
        <p:spPr>
          <a:xfrm xmlns:a="http://schemas.openxmlformats.org/drawingml/2006/main">
            <a:off x="5219700" y="26860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26262"/>
                </a:solidFill>
                <a:latin typeface="Helvetica Neue"/>
                <a:ea typeface="Helvetica Neue"/>
                <a:cs typeface="Helvetica Neue"/>
              </a:defRPr>
            </a:defPPr>
          </a:lstStyle>
          <a:p xmlns:a="http://schemas.openxmlformats.org/drawingml/2006/main">
            <a:pPr algn="l">
              <a:lnSpc>
                <a:spcPct val="110000"/>
              </a:lnSpc>
              <a:buNone/>
              <a:defRPr sz="1275" b="0">
                <a:solidFill>
                  <a:srgbClr val="626262"/>
                </a:solidFill>
                <a:latin typeface="Helvetica Neue"/>
                <a:ea typeface="Helvetica Neue"/>
                <a:cs typeface="Helvetica Neue"/>
              </a:defRPr>
            </a:pPr>
            <a:r>
              <a:rPr sz="1275" b="0">
                <a:solidFill>
                  <a:srgbClr val="626262"/>
                </a:solidFill>
                <a:latin typeface="Helvetica Neue"/>
                <a:ea typeface="Helvetica Neue"/>
                <a:cs typeface="Helvetica Neue"/>
              </a:rPr>
              <a:t>01</a:t>
            </a:r>
          </a:p>
        </p:txBody>
      </p:sp>
      <p:sp>
        <p:nvSpPr>
          <p:cNvPr id="9" name="AI draft">
            <a:extLst xmlns:a="http://schemas.openxmlformats.org/drawingml/2006/main">
              <a:ext uri="{FF2B5EF4-FFF2-40B4-BE49-F238E27FC236}">
                <a16:creationId xmlns:a16="http://schemas.microsoft.com/office/drawing/2014/main" id="{C744B103-1D25-4D72-8E24-1E8A468BF4CC}"/>
              </a:ext>
            </a:extLst>
          </p:cNvPr>
          <p:cNvSpPr>
            <a:spLocks xmlns:a="http://schemas.openxmlformats.org/drawingml/2006/main" noGrp="1"/>
          </p:cNvSpPr>
          <p:nvPr/>
        </p:nvSpPr>
        <p:spPr>
          <a:xfrm xmlns:a="http://schemas.openxmlformats.org/drawingml/2006/main">
            <a:off x="5791200" y="2667000"/>
            <a:ext cx="5286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02020"/>
                </a:solidFill>
                <a:latin typeface="Helvetica Neue"/>
                <a:ea typeface="Helvetica Neue"/>
                <a:cs typeface="Helvetica Neue"/>
              </a:defRPr>
            </a:defPPr>
          </a:lstStyle>
          <a:p xmlns:a="http://schemas.openxmlformats.org/drawingml/2006/main">
            <a:pPr algn="l">
              <a:lnSpc>
                <a:spcPct val="110000"/>
              </a:lnSpc>
              <a:buNone/>
              <a:defRPr sz="2025" b="0">
                <a:solidFill>
                  <a:srgbClr val="202020"/>
                </a:solidFill>
                <a:latin typeface="Helvetica Neue"/>
                <a:ea typeface="Helvetica Neue"/>
                <a:cs typeface="Helvetica Neue"/>
              </a:defRPr>
            </a:pPr>
            <a:r>
              <a:rPr sz="2025" b="0">
                <a:solidFill>
                  <a:srgbClr val="202020"/>
                </a:solidFill>
                <a:latin typeface="Helvetica Neue"/>
                <a:ea typeface="Helvetica Neue"/>
                <a:cs typeface="Helvetica Neue"/>
              </a:rPr>
              <a:t>AI draft</a:t>
            </a:r>
          </a:p>
        </p:txBody>
      </p:sp>
      <p:sp>
        <p:nvSpPr>
          <p:cNvPr id="10" name="A linked proposal the PM can">
            <a:extLst xmlns:a="http://schemas.openxmlformats.org/drawingml/2006/main">
              <a:ext uri="{FF2B5EF4-FFF2-40B4-BE49-F238E27FC236}">
                <a16:creationId xmlns:a16="http://schemas.microsoft.com/office/drawing/2014/main" id="{E37C4733-53BE-433D-82AF-E0C14A033430}"/>
              </a:ext>
            </a:extLst>
          </p:cNvPr>
          <p:cNvSpPr>
            <a:spLocks xmlns:a="http://schemas.openxmlformats.org/drawingml/2006/main" noGrp="1"/>
          </p:cNvSpPr>
          <p:nvPr/>
        </p:nvSpPr>
        <p:spPr>
          <a:xfrm xmlns:a="http://schemas.openxmlformats.org/drawingml/2006/main">
            <a:off x="5791200" y="3086100"/>
            <a:ext cx="5286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Helvetica Neue"/>
                <a:ea typeface="Helvetica Neue"/>
                <a:cs typeface="Helvetica Neue"/>
              </a:defRPr>
            </a:defPPr>
          </a:lstStyle>
          <a:p xmlns:a="http://schemas.openxmlformats.org/drawingml/2006/main">
            <a:pPr algn="l">
              <a:lnSpc>
                <a:spcPct val="110000"/>
              </a:lnSpc>
              <a:buNone/>
              <a:defRPr sz="1575" b="0">
                <a:solidFill>
                  <a:srgbClr val="626262"/>
                </a:solidFill>
                <a:latin typeface="Helvetica Neue"/>
                <a:ea typeface="Helvetica Neue"/>
                <a:cs typeface="Helvetica Neue"/>
              </a:defRPr>
            </a:pPr>
            <a:r>
              <a:rPr sz="1575" b="0">
                <a:solidFill>
                  <a:srgbClr val="626262"/>
                </a:solidFill>
                <a:latin typeface="Helvetica Neue"/>
                <a:ea typeface="Helvetica Neue"/>
                <a:cs typeface="Helvetica Neue"/>
              </a:rPr>
              <a:t>A linked proposal the PM can inspect</a:t>
            </a:r>
          </a:p>
        </p:txBody>
      </p:sp>
      <p:sp>
        <p:nvSpPr>
          <p:cNvPr id="11" name="decision divider 1">
            <a:extLst xmlns:a="http://schemas.openxmlformats.org/drawingml/2006/main">
              <a:ext uri="{FF2B5EF4-FFF2-40B4-BE49-F238E27FC236}">
                <a16:creationId xmlns:a16="http://schemas.microsoft.com/office/drawing/2014/main" id="{5D52B86B-1728-423C-B89F-21C65F9EA2F8}"/>
              </a:ext>
            </a:extLst>
          </p:cNvPr>
          <p:cNvSpPr>
            <a:spLocks xmlns:a="http://schemas.openxmlformats.org/drawingml/2006/main" noGrp="1"/>
          </p:cNvSpPr>
          <p:nvPr/>
        </p:nvSpPr>
        <p:spPr>
          <a:xfrm xmlns:a="http://schemas.openxmlformats.org/drawingml/2006/main">
            <a:off x="5181600" y="3581400"/>
            <a:ext cx="6210300" cy="9525"/>
          </a:xfrm>
          <a:prstGeom xmlns:a="http://schemas.openxmlformats.org/drawingml/2006/main" prst="rect">
            <a:avLst/>
          </a:prstGeom>
          <a:solidFill xmlns:a="http://schemas.openxmlformats.org/drawingml/2006/main">
            <a:srgbClr val="DEDEDE"/>
          </a:solidFill>
          <a:ln xmlns:a="http://schemas.openxmlformats.org/drawingml/2006/main" w="0">
            <a:noFill/>
            <a:prstDash val="solid"/>
          </a:ln>
        </p:spPr>
      </p:sp>
      <p:sp>
        <p:nvSpPr>
          <p:cNvPr id="12" name="02">
            <a:extLst xmlns:a="http://schemas.openxmlformats.org/drawingml/2006/main">
              <a:ext uri="{FF2B5EF4-FFF2-40B4-BE49-F238E27FC236}">
                <a16:creationId xmlns:a16="http://schemas.microsoft.com/office/drawing/2014/main" id="{CF8C9F52-1F25-4171-80B1-E5D4B944BC2A}"/>
              </a:ext>
            </a:extLst>
          </p:cNvPr>
          <p:cNvSpPr>
            <a:spLocks xmlns:a="http://schemas.openxmlformats.org/drawingml/2006/main" noGrp="1"/>
          </p:cNvSpPr>
          <p:nvPr/>
        </p:nvSpPr>
        <p:spPr>
          <a:xfrm xmlns:a="http://schemas.openxmlformats.org/drawingml/2006/main">
            <a:off x="5219700" y="37909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26262"/>
                </a:solidFill>
                <a:latin typeface="Helvetica Neue"/>
                <a:ea typeface="Helvetica Neue"/>
                <a:cs typeface="Helvetica Neue"/>
              </a:defRPr>
            </a:defPPr>
          </a:lstStyle>
          <a:p xmlns:a="http://schemas.openxmlformats.org/drawingml/2006/main">
            <a:pPr algn="l">
              <a:lnSpc>
                <a:spcPct val="110000"/>
              </a:lnSpc>
              <a:buNone/>
              <a:defRPr sz="1275" b="0">
                <a:solidFill>
                  <a:srgbClr val="626262"/>
                </a:solidFill>
                <a:latin typeface="Helvetica Neue"/>
                <a:ea typeface="Helvetica Neue"/>
                <a:cs typeface="Helvetica Neue"/>
              </a:defRPr>
            </a:pPr>
            <a:r>
              <a:rPr sz="1275" b="0">
                <a:solidFill>
                  <a:srgbClr val="626262"/>
                </a:solidFill>
                <a:latin typeface="Helvetica Neue"/>
                <a:ea typeface="Helvetica Neue"/>
                <a:cs typeface="Helvetica Neue"/>
              </a:rPr>
              <a:t>02</a:t>
            </a:r>
          </a:p>
        </p:txBody>
      </p:sp>
      <p:sp>
        <p:nvSpPr>
          <p:cNvPr id="13" name="PM assumption">
            <a:extLst xmlns:a="http://schemas.openxmlformats.org/drawingml/2006/main">
              <a:ext uri="{FF2B5EF4-FFF2-40B4-BE49-F238E27FC236}">
                <a16:creationId xmlns:a16="http://schemas.microsoft.com/office/drawing/2014/main" id="{758C6740-CEB7-4773-9164-F06D5C0772F8}"/>
              </a:ext>
            </a:extLst>
          </p:cNvPr>
          <p:cNvSpPr>
            <a:spLocks xmlns:a="http://schemas.openxmlformats.org/drawingml/2006/main" noGrp="1"/>
          </p:cNvSpPr>
          <p:nvPr/>
        </p:nvSpPr>
        <p:spPr>
          <a:xfrm xmlns:a="http://schemas.openxmlformats.org/drawingml/2006/main">
            <a:off x="5791200" y="3771900"/>
            <a:ext cx="5286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02020"/>
                </a:solidFill>
                <a:latin typeface="Helvetica Neue"/>
                <a:ea typeface="Helvetica Neue"/>
                <a:cs typeface="Helvetica Neue"/>
              </a:defRPr>
            </a:defPPr>
          </a:lstStyle>
          <a:p xmlns:a="http://schemas.openxmlformats.org/drawingml/2006/main">
            <a:pPr algn="l">
              <a:lnSpc>
                <a:spcPct val="110000"/>
              </a:lnSpc>
              <a:buNone/>
              <a:defRPr sz="2025" b="0">
                <a:solidFill>
                  <a:srgbClr val="202020"/>
                </a:solidFill>
                <a:latin typeface="Helvetica Neue"/>
                <a:ea typeface="Helvetica Neue"/>
                <a:cs typeface="Helvetica Neue"/>
              </a:defRPr>
            </a:pPr>
            <a:r>
              <a:rPr sz="2025" b="0">
                <a:solidFill>
                  <a:srgbClr val="202020"/>
                </a:solidFill>
                <a:latin typeface="Helvetica Neue"/>
                <a:ea typeface="Helvetica Neue"/>
                <a:cs typeface="Helvetica Neue"/>
              </a:rPr>
              <a:t>PM assumption</a:t>
            </a:r>
          </a:p>
        </p:txBody>
      </p:sp>
      <p:sp>
        <p:nvSpPr>
          <p:cNvPr id="14" name="An unsupported target stays ">
            <a:extLst xmlns:a="http://schemas.openxmlformats.org/drawingml/2006/main">
              <a:ext uri="{FF2B5EF4-FFF2-40B4-BE49-F238E27FC236}">
                <a16:creationId xmlns:a16="http://schemas.microsoft.com/office/drawing/2014/main" id="{B1C95AEE-40B1-4031-AC21-3C5EEAE12B61}"/>
              </a:ext>
            </a:extLst>
          </p:cNvPr>
          <p:cNvSpPr>
            <a:spLocks xmlns:a="http://schemas.openxmlformats.org/drawingml/2006/main" noGrp="1"/>
          </p:cNvSpPr>
          <p:nvPr/>
        </p:nvSpPr>
        <p:spPr>
          <a:xfrm xmlns:a="http://schemas.openxmlformats.org/drawingml/2006/main">
            <a:off x="5791200" y="4191000"/>
            <a:ext cx="5286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Helvetica Neue"/>
                <a:ea typeface="Helvetica Neue"/>
                <a:cs typeface="Helvetica Neue"/>
              </a:defRPr>
            </a:defPPr>
          </a:lstStyle>
          <a:p xmlns:a="http://schemas.openxmlformats.org/drawingml/2006/main">
            <a:pPr algn="l">
              <a:lnSpc>
                <a:spcPct val="110000"/>
              </a:lnSpc>
              <a:buNone/>
              <a:defRPr sz="1575" b="0">
                <a:solidFill>
                  <a:srgbClr val="626262"/>
                </a:solidFill>
                <a:latin typeface="Helvetica Neue"/>
                <a:ea typeface="Helvetica Neue"/>
                <a:cs typeface="Helvetica Neue"/>
              </a:defRPr>
            </a:pPr>
            <a:r>
              <a:rPr sz="1575" b="0">
                <a:solidFill>
                  <a:srgbClr val="626262"/>
                </a:solidFill>
                <a:latin typeface="Helvetica Neue"/>
                <a:ea typeface="Helvetica Neue"/>
                <a:cs typeface="Helvetica Neue"/>
              </a:rPr>
              <a:t>An unsupported target stays labelled</a:t>
            </a:r>
          </a:p>
        </p:txBody>
      </p:sp>
      <p:sp>
        <p:nvSpPr>
          <p:cNvPr id="15" name="decision divider 2">
            <a:extLst xmlns:a="http://schemas.openxmlformats.org/drawingml/2006/main">
              <a:ext uri="{FF2B5EF4-FFF2-40B4-BE49-F238E27FC236}">
                <a16:creationId xmlns:a16="http://schemas.microsoft.com/office/drawing/2014/main" id="{B69E2111-8F29-4C49-B656-63B300CF74C9}"/>
              </a:ext>
            </a:extLst>
          </p:cNvPr>
          <p:cNvSpPr>
            <a:spLocks xmlns:a="http://schemas.openxmlformats.org/drawingml/2006/main" noGrp="1"/>
          </p:cNvSpPr>
          <p:nvPr/>
        </p:nvSpPr>
        <p:spPr>
          <a:xfrm xmlns:a="http://schemas.openxmlformats.org/drawingml/2006/main">
            <a:off x="5181600" y="4686300"/>
            <a:ext cx="6210300" cy="9525"/>
          </a:xfrm>
          <a:prstGeom xmlns:a="http://schemas.openxmlformats.org/drawingml/2006/main" prst="rect">
            <a:avLst/>
          </a:prstGeom>
          <a:solidFill xmlns:a="http://schemas.openxmlformats.org/drawingml/2006/main">
            <a:srgbClr val="DEDEDE"/>
          </a:solidFill>
          <a:ln xmlns:a="http://schemas.openxmlformats.org/drawingml/2006/main" w="0">
            <a:noFill/>
            <a:prstDash val="solid"/>
          </a:ln>
        </p:spPr>
      </p:sp>
      <p:sp>
        <p:nvSpPr>
          <p:cNvPr id="16" name="03">
            <a:extLst xmlns:a="http://schemas.openxmlformats.org/drawingml/2006/main">
              <a:ext uri="{FF2B5EF4-FFF2-40B4-BE49-F238E27FC236}">
                <a16:creationId xmlns:a16="http://schemas.microsoft.com/office/drawing/2014/main" id="{CCBA0E4C-B4A6-44FD-8603-2F537F64DF61}"/>
              </a:ext>
            </a:extLst>
          </p:cNvPr>
          <p:cNvSpPr>
            <a:spLocks xmlns:a="http://schemas.openxmlformats.org/drawingml/2006/main" noGrp="1"/>
          </p:cNvSpPr>
          <p:nvPr/>
        </p:nvSpPr>
        <p:spPr>
          <a:xfrm xmlns:a="http://schemas.openxmlformats.org/drawingml/2006/main">
            <a:off x="5219700" y="48958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26262"/>
                </a:solidFill>
                <a:latin typeface="Helvetica Neue"/>
                <a:ea typeface="Helvetica Neue"/>
                <a:cs typeface="Helvetica Neue"/>
              </a:defRPr>
            </a:defPPr>
          </a:lstStyle>
          <a:p xmlns:a="http://schemas.openxmlformats.org/drawingml/2006/main">
            <a:pPr algn="l">
              <a:lnSpc>
                <a:spcPct val="110000"/>
              </a:lnSpc>
              <a:buNone/>
              <a:defRPr sz="1275" b="0">
                <a:solidFill>
                  <a:srgbClr val="626262"/>
                </a:solidFill>
                <a:latin typeface="Helvetica Neue"/>
                <a:ea typeface="Helvetica Neue"/>
                <a:cs typeface="Helvetica Neue"/>
              </a:defRPr>
            </a:pPr>
            <a:r>
              <a:rPr sz="1275" b="0">
                <a:solidFill>
                  <a:srgbClr val="626262"/>
                </a:solidFill>
                <a:latin typeface="Helvetica Neue"/>
                <a:ea typeface="Helvetica Neue"/>
                <a:cs typeface="Helvetica Neue"/>
              </a:rPr>
              <a:t>03</a:t>
            </a:r>
          </a:p>
        </p:txBody>
      </p:sp>
      <p:sp>
        <p:nvSpPr>
          <p:cNvPr id="17" name="Approval record">
            <a:extLst xmlns:a="http://schemas.openxmlformats.org/drawingml/2006/main">
              <a:ext uri="{FF2B5EF4-FFF2-40B4-BE49-F238E27FC236}">
                <a16:creationId xmlns:a16="http://schemas.microsoft.com/office/drawing/2014/main" id="{78AD51EA-71F3-4A13-BE81-6964FEF9494E}"/>
              </a:ext>
            </a:extLst>
          </p:cNvPr>
          <p:cNvSpPr>
            <a:spLocks xmlns:a="http://schemas.openxmlformats.org/drawingml/2006/main" noGrp="1"/>
          </p:cNvSpPr>
          <p:nvPr/>
        </p:nvSpPr>
        <p:spPr>
          <a:xfrm xmlns:a="http://schemas.openxmlformats.org/drawingml/2006/main">
            <a:off x="5791200" y="4876800"/>
            <a:ext cx="5286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02020"/>
                </a:solidFill>
                <a:latin typeface="Helvetica Neue"/>
                <a:ea typeface="Helvetica Neue"/>
                <a:cs typeface="Helvetica Neue"/>
              </a:defRPr>
            </a:defPPr>
          </a:lstStyle>
          <a:p xmlns:a="http://schemas.openxmlformats.org/drawingml/2006/main">
            <a:pPr algn="l">
              <a:lnSpc>
                <a:spcPct val="110000"/>
              </a:lnSpc>
              <a:buNone/>
              <a:defRPr sz="2025" b="0">
                <a:solidFill>
                  <a:srgbClr val="202020"/>
                </a:solidFill>
                <a:latin typeface="Helvetica Neue"/>
                <a:ea typeface="Helvetica Neue"/>
                <a:cs typeface="Helvetica Neue"/>
              </a:defRPr>
            </a:pPr>
            <a:r>
              <a:rPr sz="2025" b="0">
                <a:solidFill>
                  <a:srgbClr val="202020"/>
                </a:solidFill>
                <a:latin typeface="Helvetica Neue"/>
                <a:ea typeface="Helvetica Neue"/>
                <a:cs typeface="Helvetica Neue"/>
              </a:rPr>
              <a:t>Approval record</a:t>
            </a:r>
          </a:p>
        </p:txBody>
      </p:sp>
      <p:sp>
        <p:nvSpPr>
          <p:cNvPr id="18" name="The PM edits, explains and a">
            <a:extLst xmlns:a="http://schemas.openxmlformats.org/drawingml/2006/main">
              <a:ext uri="{FF2B5EF4-FFF2-40B4-BE49-F238E27FC236}">
                <a16:creationId xmlns:a16="http://schemas.microsoft.com/office/drawing/2014/main" id="{EA08A365-E1F4-4B1B-A1EF-9BB1C338F953}"/>
              </a:ext>
            </a:extLst>
          </p:cNvPr>
          <p:cNvSpPr>
            <a:spLocks xmlns:a="http://schemas.openxmlformats.org/drawingml/2006/main" noGrp="1"/>
          </p:cNvSpPr>
          <p:nvPr/>
        </p:nvSpPr>
        <p:spPr>
          <a:xfrm xmlns:a="http://schemas.openxmlformats.org/drawingml/2006/main">
            <a:off x="5791200" y="5295900"/>
            <a:ext cx="5286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Helvetica Neue"/>
                <a:ea typeface="Helvetica Neue"/>
                <a:cs typeface="Helvetica Neue"/>
              </a:defRPr>
            </a:defPPr>
          </a:lstStyle>
          <a:p xmlns:a="http://schemas.openxmlformats.org/drawingml/2006/main">
            <a:pPr algn="l">
              <a:lnSpc>
                <a:spcPct val="110000"/>
              </a:lnSpc>
              <a:buNone/>
              <a:defRPr sz="1575" b="0">
                <a:solidFill>
                  <a:srgbClr val="626262"/>
                </a:solidFill>
                <a:latin typeface="Helvetica Neue"/>
                <a:ea typeface="Helvetica Neue"/>
                <a:cs typeface="Helvetica Neue"/>
              </a:defRPr>
            </a:pPr>
            <a:r>
              <a:rPr sz="1575" b="0">
                <a:solidFill>
                  <a:srgbClr val="626262"/>
                </a:solidFill>
                <a:latin typeface="Helvetica Neue"/>
                <a:ea typeface="Helvetica Neue"/>
                <a:cs typeface="Helvetica Neue"/>
              </a:rPr>
              <a:t>The PM edits, explains and approves a version</a:t>
            </a:r>
          </a:p>
        </p:txBody>
      </p:sp>
    </p:spTree>
    <p:extLst>
      <p:ext uri="{BB962C8B-B14F-4D97-AF65-F5344CB8AC3E}">
        <p14:creationId xmlns:p14="http://schemas.microsoft.com/office/powerpoint/2010/main" val="8523946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IMULATED UPDATE">
            <a:extLst xmlns:a="http://schemas.openxmlformats.org/drawingml/2006/main">
              <a:ext uri="{FF2B5EF4-FFF2-40B4-BE49-F238E27FC236}">
                <a16:creationId xmlns:a16="http://schemas.microsoft.com/office/drawing/2014/main" id="{9D282E81-A791-47A3-B569-AA1DA9C1E8C6}"/>
              </a:ext>
            </a:extLst>
          </p:cNvPr>
          <p:cNvSpPr>
            <a:spLocks xmlns:a="http://schemas.openxmlformats.org/drawingml/2006/main" noGrp="1"/>
          </p:cNvSpPr>
          <p:nvPr/>
        </p:nvSpPr>
        <p:spPr>
          <a:xfrm xmlns:a="http://schemas.openxmlformats.org/drawingml/2006/main">
            <a:off x="781050" y="628650"/>
            <a:ext cx="6286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626262"/>
                </a:solidFill>
                <a:latin typeface="Helvetica Neue"/>
                <a:ea typeface="Helvetica Neue"/>
                <a:cs typeface="Helvetica Neue"/>
              </a:defRPr>
            </a:defPPr>
          </a:lstStyle>
          <a:p xmlns:a="http://schemas.openxmlformats.org/drawingml/2006/main">
            <a:pPr algn="l">
              <a:lnSpc>
                <a:spcPct val="110000"/>
              </a:lnSpc>
              <a:buNone/>
              <a:defRPr sz="1125" b="1">
                <a:solidFill>
                  <a:srgbClr val="626262"/>
                </a:solidFill>
                <a:latin typeface="Helvetica Neue"/>
                <a:ea typeface="Helvetica Neue"/>
                <a:cs typeface="Helvetica Neue"/>
              </a:defRPr>
            </a:pPr>
            <a:r>
              <a:rPr sz="1125" b="1">
                <a:solidFill>
                  <a:srgbClr val="626262"/>
                </a:solidFill>
                <a:latin typeface="Helvetica Neue"/>
                <a:ea typeface="Helvetica Neue"/>
                <a:cs typeface="Helvetica Neue"/>
              </a:rPr>
              <a:t>SIMULATED UPDATE</a:t>
            </a:r>
          </a:p>
        </p:txBody>
      </p:sp>
      <p:sp>
        <p:nvSpPr>
          <p:cNvPr id="2" name="Only affected decisions retu">
            <a:extLst xmlns:a="http://schemas.openxmlformats.org/drawingml/2006/main">
              <a:ext uri="{FF2B5EF4-FFF2-40B4-BE49-F238E27FC236}">
                <a16:creationId xmlns:a16="http://schemas.microsoft.com/office/drawing/2014/main" id="{C6698ABE-4D19-4D86-85C1-742ECE8E774A}"/>
              </a:ext>
            </a:extLst>
          </p:cNvPr>
          <p:cNvSpPr>
            <a:spLocks xmlns:a="http://schemas.openxmlformats.org/drawingml/2006/main" noGrp="1"/>
          </p:cNvSpPr>
          <p:nvPr/>
        </p:nvSpPr>
        <p:spPr>
          <a:xfrm xmlns:a="http://schemas.openxmlformats.org/drawingml/2006/main">
            <a:off x="781050" y="914400"/>
            <a:ext cx="105727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75" b="0">
                <a:solidFill>
                  <a:srgbClr val="202020"/>
                </a:solidFill>
                <a:latin typeface="Baskerville"/>
                <a:ea typeface="Baskerville"/>
                <a:cs typeface="Baskerville"/>
              </a:defRPr>
            </a:defPPr>
          </a:lstStyle>
          <a:p xmlns:a="http://schemas.openxmlformats.org/drawingml/2006/main">
            <a:pPr algn="l">
              <a:lnSpc>
                <a:spcPct val="110000"/>
              </a:lnSpc>
              <a:buNone/>
              <a:defRPr sz="4275" b="0">
                <a:solidFill>
                  <a:srgbClr val="202020"/>
                </a:solidFill>
                <a:latin typeface="Baskerville"/>
                <a:ea typeface="Baskerville"/>
                <a:cs typeface="Baskerville"/>
              </a:defRPr>
            </a:pPr>
            <a:r>
              <a:rPr sz="4275" b="0">
                <a:solidFill>
                  <a:srgbClr val="202020"/>
                </a:solidFill>
                <a:latin typeface="Baskerville"/>
                <a:ea typeface="Baskerville"/>
                <a:cs typeface="Baskerville"/>
              </a:rPr>
              <a:t>Only affected decisions return</a:t>
            </a:r>
          </a:p>
        </p:txBody>
      </p:sp>
      <p:sp>
        <p:nvSpPr>
          <p:cNvPr id="3" name="New evidence arrives during ">
            <a:extLst xmlns:a="http://schemas.openxmlformats.org/drawingml/2006/main">
              <a:ext uri="{FF2B5EF4-FFF2-40B4-BE49-F238E27FC236}">
                <a16:creationId xmlns:a16="http://schemas.microsoft.com/office/drawing/2014/main" id="{145ACBA9-5E60-4288-8500-25EE79429D21}"/>
              </a:ext>
            </a:extLst>
          </p:cNvPr>
          <p:cNvSpPr>
            <a:spLocks xmlns:a="http://schemas.openxmlformats.org/drawingml/2006/main" noGrp="1"/>
          </p:cNvSpPr>
          <p:nvPr/>
        </p:nvSpPr>
        <p:spPr>
          <a:xfrm xmlns:a="http://schemas.openxmlformats.org/drawingml/2006/main">
            <a:off x="800100" y="1676400"/>
            <a:ext cx="1019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26262"/>
                </a:solidFill>
                <a:latin typeface="Helvetica Neue"/>
                <a:ea typeface="Helvetica Neue"/>
                <a:cs typeface="Helvetica Neue"/>
              </a:defRPr>
            </a:defPPr>
          </a:lstStyle>
          <a:p xmlns:a="http://schemas.openxmlformats.org/drawingml/2006/main">
            <a:pPr algn="l">
              <a:lnSpc>
                <a:spcPct val="110000"/>
              </a:lnSpc>
              <a:buNone/>
              <a:defRPr sz="1800" b="0">
                <a:solidFill>
                  <a:srgbClr val="626262"/>
                </a:solidFill>
                <a:latin typeface="Helvetica Neue"/>
                <a:ea typeface="Helvetica Neue"/>
                <a:cs typeface="Helvetica Neue"/>
              </a:defRPr>
            </a:pPr>
            <a:r>
              <a:rPr sz="1800" b="0">
                <a:solidFill>
                  <a:srgbClr val="626262"/>
                </a:solidFill>
                <a:latin typeface="Helvetica Neue"/>
                <a:ea typeface="Helvetica Neue"/>
                <a:cs typeface="Helvetica Neue"/>
              </a:rPr>
              <a:t>New evidence arrives during the two-year development cycle.</a:t>
            </a:r>
          </a:p>
        </p:txBody>
      </p:sp>
      <p:sp>
        <p:nvSpPr>
          <p:cNvPr id="4" name="update tile 1">
            <a:extLst xmlns:a="http://schemas.openxmlformats.org/drawingml/2006/main">
              <a:ext uri="{FF2B5EF4-FFF2-40B4-BE49-F238E27FC236}">
                <a16:creationId xmlns:a16="http://schemas.microsoft.com/office/drawing/2014/main" id="{5E65BABB-A633-4744-93D7-B1BD90AA5663}"/>
              </a:ext>
            </a:extLst>
          </p:cNvPr>
          <p:cNvSpPr>
            <a:spLocks xmlns:a="http://schemas.openxmlformats.org/drawingml/2006/main" noGrp="1"/>
          </p:cNvSpPr>
          <p:nvPr/>
        </p:nvSpPr>
        <p:spPr>
          <a:xfrm xmlns:a="http://schemas.openxmlformats.org/drawingml/2006/main">
            <a:off x="781050" y="2905125"/>
            <a:ext cx="3371850" cy="2714625"/>
          </a:xfrm>
          <a:prstGeom xmlns:a="http://schemas.openxmlformats.org/drawingml/2006/main" prst="rect">
            <a:avLst/>
          </a:prstGeom>
          <a:solidFill xmlns:a="http://schemas.openxmlformats.org/drawingml/2006/main">
            <a:srgbClr val="F5F5F5"/>
          </a:solidFill>
          <a:ln xmlns:a="http://schemas.openxmlformats.org/drawingml/2006/main" w="0">
            <a:noFill/>
            <a:prstDash val="solid"/>
          </a:ln>
        </p:spPr>
      </p:sp>
      <p:sp>
        <p:nvSpPr>
          <p:cNvPr id="5" name="01">
            <a:extLst xmlns:a="http://schemas.openxmlformats.org/drawingml/2006/main">
              <a:ext uri="{FF2B5EF4-FFF2-40B4-BE49-F238E27FC236}">
                <a16:creationId xmlns:a16="http://schemas.microsoft.com/office/drawing/2014/main" id="{2134DB18-ACF2-4803-BDCA-3243D60204C2}"/>
              </a:ext>
            </a:extLst>
          </p:cNvPr>
          <p:cNvSpPr>
            <a:spLocks xmlns:a="http://schemas.openxmlformats.org/drawingml/2006/main" noGrp="1"/>
          </p:cNvSpPr>
          <p:nvPr/>
        </p:nvSpPr>
        <p:spPr>
          <a:xfrm xmlns:a="http://schemas.openxmlformats.org/drawingml/2006/main">
            <a:off x="1057275" y="3190875"/>
            <a:ext cx="66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262"/>
                </a:solidFill>
                <a:latin typeface="Helvetica Neue"/>
                <a:ea typeface="Helvetica Neue"/>
                <a:cs typeface="Helvetica Neue"/>
              </a:defRPr>
            </a:defPPr>
          </a:lstStyle>
          <a:p xmlns:a="http://schemas.openxmlformats.org/drawingml/2006/main">
            <a:pPr algn="l">
              <a:lnSpc>
                <a:spcPct val="110000"/>
              </a:lnSpc>
              <a:buNone/>
              <a:defRPr sz="1650" b="0">
                <a:solidFill>
                  <a:srgbClr val="626262"/>
                </a:solidFill>
                <a:latin typeface="Helvetica Neue"/>
                <a:ea typeface="Helvetica Neue"/>
                <a:cs typeface="Helvetica Neue"/>
              </a:defRPr>
            </a:pPr>
            <a:r>
              <a:rPr sz="1650" b="0">
                <a:solidFill>
                  <a:srgbClr val="626262"/>
                </a:solidFill>
                <a:latin typeface="Helvetica Neue"/>
                <a:ea typeface="Helvetica Neue"/>
                <a:cs typeface="Helvetica Neue"/>
              </a:rPr>
              <a:t>01</a:t>
            </a:r>
          </a:p>
        </p:txBody>
      </p:sp>
      <p:sp>
        <p:nvSpPr>
          <p:cNvPr id="6" name="New feedback">
            <a:extLst xmlns:a="http://schemas.openxmlformats.org/drawingml/2006/main">
              <a:ext uri="{FF2B5EF4-FFF2-40B4-BE49-F238E27FC236}">
                <a16:creationId xmlns:a16="http://schemas.microsoft.com/office/drawing/2014/main" id="{BC0BC336-4B5B-423F-B703-204B0F8255EF}"/>
              </a:ext>
            </a:extLst>
          </p:cNvPr>
          <p:cNvSpPr>
            <a:spLocks xmlns:a="http://schemas.openxmlformats.org/drawingml/2006/main" noGrp="1"/>
          </p:cNvSpPr>
          <p:nvPr/>
        </p:nvSpPr>
        <p:spPr>
          <a:xfrm xmlns:a="http://schemas.openxmlformats.org/drawingml/2006/main">
            <a:off x="1047750" y="3971925"/>
            <a:ext cx="2809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020"/>
                </a:solidFill>
                <a:latin typeface="Helvetica Neue"/>
                <a:ea typeface="Helvetica Neue"/>
                <a:cs typeface="Helvetica Neue"/>
              </a:defRPr>
            </a:defPPr>
          </a:lstStyle>
          <a:p xmlns:a="http://schemas.openxmlformats.org/drawingml/2006/main">
            <a:pPr algn="l">
              <a:lnSpc>
                <a:spcPct val="110000"/>
              </a:lnSpc>
              <a:buNone/>
              <a:defRPr sz="2175" b="0">
                <a:solidFill>
                  <a:srgbClr val="202020"/>
                </a:solidFill>
                <a:latin typeface="Helvetica Neue"/>
                <a:ea typeface="Helvetica Neue"/>
                <a:cs typeface="Helvetica Neue"/>
              </a:defRPr>
            </a:pPr>
            <a:r>
              <a:rPr sz="2175" b="0">
                <a:solidFill>
                  <a:srgbClr val="202020"/>
                </a:solidFill>
                <a:latin typeface="Helvetica Neue"/>
                <a:ea typeface="Helvetica Neue"/>
                <a:cs typeface="Helvetica Neue"/>
              </a:rPr>
              <a:t>New feedback</a:t>
            </a:r>
          </a:p>
        </p:txBody>
      </p:sp>
      <p:sp>
        <p:nvSpPr>
          <p:cNvPr id="7" name="A new batch enters the same ">
            <a:extLst xmlns:a="http://schemas.openxmlformats.org/drawingml/2006/main">
              <a:ext uri="{FF2B5EF4-FFF2-40B4-BE49-F238E27FC236}">
                <a16:creationId xmlns:a16="http://schemas.microsoft.com/office/drawing/2014/main" id="{2A436AE2-4B41-41C6-B98C-FCF875D36F1F}"/>
              </a:ext>
            </a:extLst>
          </p:cNvPr>
          <p:cNvSpPr>
            <a:spLocks xmlns:a="http://schemas.openxmlformats.org/drawingml/2006/main" noGrp="1"/>
          </p:cNvSpPr>
          <p:nvPr/>
        </p:nvSpPr>
        <p:spPr>
          <a:xfrm xmlns:a="http://schemas.openxmlformats.org/drawingml/2006/main">
            <a:off x="1047750" y="4514850"/>
            <a:ext cx="28289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Helvetica Neue"/>
                <a:ea typeface="Helvetica Neue"/>
                <a:cs typeface="Helvetica Neue"/>
              </a:defRPr>
            </a:defPPr>
          </a:lstStyle>
          <a:p xmlns:a="http://schemas.openxmlformats.org/drawingml/2006/main">
            <a:pPr algn="l">
              <a:lnSpc>
                <a:spcPct val="120000"/>
              </a:lnSpc>
              <a:buNone/>
              <a:defRPr sz="1575" b="0">
                <a:solidFill>
                  <a:srgbClr val="626262"/>
                </a:solidFill>
                <a:latin typeface="Helvetica Neue"/>
                <a:ea typeface="Helvetica Neue"/>
                <a:cs typeface="Helvetica Neue"/>
              </a:defRPr>
            </a:pPr>
            <a:r>
              <a:rPr sz="1575" b="0">
                <a:solidFill>
                  <a:srgbClr val="626262"/>
                </a:solidFill>
                <a:latin typeface="Helvetica Neue"/>
                <a:ea typeface="Helvetica Neue"/>
                <a:cs typeface="Helvetica Neue"/>
              </a:rPr>
              <a:t>A new batch enters the same evidence pipeline</a:t>
            </a:r>
          </a:p>
        </p:txBody>
      </p:sp>
      <p:sp>
        <p:nvSpPr>
          <p:cNvPr id="8" name="update tile 2">
            <a:extLst xmlns:a="http://schemas.openxmlformats.org/drawingml/2006/main">
              <a:ext uri="{FF2B5EF4-FFF2-40B4-BE49-F238E27FC236}">
                <a16:creationId xmlns:a16="http://schemas.microsoft.com/office/drawing/2014/main" id="{02A5D5D3-C746-44E3-B192-4DB5CEC82894}"/>
              </a:ext>
            </a:extLst>
          </p:cNvPr>
          <p:cNvSpPr>
            <a:spLocks xmlns:a="http://schemas.openxmlformats.org/drawingml/2006/main" noGrp="1"/>
          </p:cNvSpPr>
          <p:nvPr/>
        </p:nvSpPr>
        <p:spPr>
          <a:xfrm xmlns:a="http://schemas.openxmlformats.org/drawingml/2006/main">
            <a:off x="4400550" y="2905125"/>
            <a:ext cx="3371850" cy="2714625"/>
          </a:xfrm>
          <a:prstGeom xmlns:a="http://schemas.openxmlformats.org/drawingml/2006/main" prst="rect">
            <a:avLst/>
          </a:prstGeom>
          <a:solidFill xmlns:a="http://schemas.openxmlformats.org/drawingml/2006/main">
            <a:srgbClr val="F5F5F5"/>
          </a:solidFill>
          <a:ln xmlns:a="http://schemas.openxmlformats.org/drawingml/2006/main" w="0">
            <a:noFill/>
            <a:prstDash val="solid"/>
          </a:ln>
        </p:spPr>
      </p:sp>
      <p:sp>
        <p:nvSpPr>
          <p:cNvPr id="9" name="02">
            <a:extLst xmlns:a="http://schemas.openxmlformats.org/drawingml/2006/main">
              <a:ext uri="{FF2B5EF4-FFF2-40B4-BE49-F238E27FC236}">
                <a16:creationId xmlns:a16="http://schemas.microsoft.com/office/drawing/2014/main" id="{B39D44D4-72FB-4628-A664-33CB014D01B3}"/>
              </a:ext>
            </a:extLst>
          </p:cNvPr>
          <p:cNvSpPr>
            <a:spLocks xmlns:a="http://schemas.openxmlformats.org/drawingml/2006/main" noGrp="1"/>
          </p:cNvSpPr>
          <p:nvPr/>
        </p:nvSpPr>
        <p:spPr>
          <a:xfrm xmlns:a="http://schemas.openxmlformats.org/drawingml/2006/main">
            <a:off x="4676775" y="3190875"/>
            <a:ext cx="66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262"/>
                </a:solidFill>
                <a:latin typeface="Helvetica Neue"/>
                <a:ea typeface="Helvetica Neue"/>
                <a:cs typeface="Helvetica Neue"/>
              </a:defRPr>
            </a:defPPr>
          </a:lstStyle>
          <a:p xmlns:a="http://schemas.openxmlformats.org/drawingml/2006/main">
            <a:pPr algn="l">
              <a:lnSpc>
                <a:spcPct val="110000"/>
              </a:lnSpc>
              <a:buNone/>
              <a:defRPr sz="1650" b="0">
                <a:solidFill>
                  <a:srgbClr val="626262"/>
                </a:solidFill>
                <a:latin typeface="Helvetica Neue"/>
                <a:ea typeface="Helvetica Neue"/>
                <a:cs typeface="Helvetica Neue"/>
              </a:defRPr>
            </a:pPr>
            <a:r>
              <a:rPr sz="1650" b="0">
                <a:solidFill>
                  <a:srgbClr val="626262"/>
                </a:solidFill>
                <a:latin typeface="Helvetica Neue"/>
                <a:ea typeface="Helvetica Neue"/>
                <a:cs typeface="Helvetica Neue"/>
              </a:rPr>
              <a:t>02</a:t>
            </a:r>
          </a:p>
        </p:txBody>
      </p:sp>
      <p:sp>
        <p:nvSpPr>
          <p:cNvPr id="10" name="Charging returns">
            <a:extLst xmlns:a="http://schemas.openxmlformats.org/drawingml/2006/main">
              <a:ext uri="{FF2B5EF4-FFF2-40B4-BE49-F238E27FC236}">
                <a16:creationId xmlns:a16="http://schemas.microsoft.com/office/drawing/2014/main" id="{02C1894C-C80C-4068-8396-286415745011}"/>
              </a:ext>
            </a:extLst>
          </p:cNvPr>
          <p:cNvSpPr>
            <a:spLocks xmlns:a="http://schemas.openxmlformats.org/drawingml/2006/main" noGrp="1"/>
          </p:cNvSpPr>
          <p:nvPr/>
        </p:nvSpPr>
        <p:spPr>
          <a:xfrm xmlns:a="http://schemas.openxmlformats.org/drawingml/2006/main">
            <a:off x="4667250" y="3971925"/>
            <a:ext cx="2809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020"/>
                </a:solidFill>
                <a:latin typeface="Helvetica Neue"/>
                <a:ea typeface="Helvetica Neue"/>
                <a:cs typeface="Helvetica Neue"/>
              </a:defRPr>
            </a:defPPr>
          </a:lstStyle>
          <a:p xmlns:a="http://schemas.openxmlformats.org/drawingml/2006/main">
            <a:pPr algn="l">
              <a:lnSpc>
                <a:spcPct val="110000"/>
              </a:lnSpc>
              <a:buNone/>
              <a:defRPr sz="2175" b="0">
                <a:solidFill>
                  <a:srgbClr val="202020"/>
                </a:solidFill>
                <a:latin typeface="Helvetica Neue"/>
                <a:ea typeface="Helvetica Neue"/>
                <a:cs typeface="Helvetica Neue"/>
              </a:defRPr>
            </a:pPr>
            <a:r>
              <a:rPr sz="2175" b="0">
                <a:solidFill>
                  <a:srgbClr val="202020"/>
                </a:solidFill>
                <a:latin typeface="Helvetica Neue"/>
                <a:ea typeface="Helvetica Neue"/>
                <a:cs typeface="Helvetica Neue"/>
              </a:rPr>
              <a:t>Charging returns</a:t>
            </a:r>
          </a:p>
        </p:txBody>
      </p:sp>
      <p:sp>
        <p:nvSpPr>
          <p:cNvPr id="11" name="The affected requirement reo">
            <a:extLst xmlns:a="http://schemas.openxmlformats.org/drawingml/2006/main">
              <a:ext uri="{FF2B5EF4-FFF2-40B4-BE49-F238E27FC236}">
                <a16:creationId xmlns:a16="http://schemas.microsoft.com/office/drawing/2014/main" id="{BF228D05-CCF3-4F20-907E-358599A53A6E}"/>
              </a:ext>
            </a:extLst>
          </p:cNvPr>
          <p:cNvSpPr>
            <a:spLocks xmlns:a="http://schemas.openxmlformats.org/drawingml/2006/main" noGrp="1"/>
          </p:cNvSpPr>
          <p:nvPr/>
        </p:nvSpPr>
        <p:spPr>
          <a:xfrm xmlns:a="http://schemas.openxmlformats.org/drawingml/2006/main">
            <a:off x="4667250" y="4514850"/>
            <a:ext cx="28289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Helvetica Neue"/>
                <a:ea typeface="Helvetica Neue"/>
                <a:cs typeface="Helvetica Neue"/>
              </a:defRPr>
            </a:defPPr>
          </a:lstStyle>
          <a:p xmlns:a="http://schemas.openxmlformats.org/drawingml/2006/main">
            <a:pPr algn="l">
              <a:lnSpc>
                <a:spcPct val="120000"/>
              </a:lnSpc>
              <a:buNone/>
              <a:defRPr sz="1575" b="0">
                <a:solidFill>
                  <a:srgbClr val="626262"/>
                </a:solidFill>
                <a:latin typeface="Helvetica Neue"/>
                <a:ea typeface="Helvetica Neue"/>
                <a:cs typeface="Helvetica Neue"/>
              </a:defRPr>
            </a:pPr>
            <a:r>
              <a:rPr sz="1575" b="0">
                <a:solidFill>
                  <a:srgbClr val="626262"/>
                </a:solidFill>
                <a:latin typeface="Helvetica Neue"/>
                <a:ea typeface="Helvetica Neue"/>
                <a:cs typeface="Helvetica Neue"/>
              </a:rPr>
              <a:t>The affected requirement reopens beside its approved version</a:t>
            </a:r>
          </a:p>
        </p:txBody>
      </p:sp>
      <p:sp>
        <p:nvSpPr>
          <p:cNvPr id="12" name="update tile 3">
            <a:extLst xmlns:a="http://schemas.openxmlformats.org/drawingml/2006/main">
              <a:ext uri="{FF2B5EF4-FFF2-40B4-BE49-F238E27FC236}">
                <a16:creationId xmlns:a16="http://schemas.microsoft.com/office/drawing/2014/main" id="{5A155BB1-DD49-4E42-B077-4077927763E8}"/>
              </a:ext>
            </a:extLst>
          </p:cNvPr>
          <p:cNvSpPr>
            <a:spLocks xmlns:a="http://schemas.openxmlformats.org/drawingml/2006/main" noGrp="1"/>
          </p:cNvSpPr>
          <p:nvPr/>
        </p:nvSpPr>
        <p:spPr>
          <a:xfrm xmlns:a="http://schemas.openxmlformats.org/drawingml/2006/main">
            <a:off x="8020050" y="2905125"/>
            <a:ext cx="3371850" cy="2714625"/>
          </a:xfrm>
          <a:prstGeom xmlns:a="http://schemas.openxmlformats.org/drawingml/2006/main" prst="rect">
            <a:avLst/>
          </a:prstGeom>
          <a:solidFill xmlns:a="http://schemas.openxmlformats.org/drawingml/2006/main">
            <a:srgbClr val="F5F5F5"/>
          </a:solidFill>
          <a:ln xmlns:a="http://schemas.openxmlformats.org/drawingml/2006/main" w="0">
            <a:noFill/>
            <a:prstDash val="solid"/>
          </a:ln>
        </p:spPr>
      </p:sp>
      <p:sp>
        <p:nvSpPr>
          <p:cNvPr id="13" name="03">
            <a:extLst xmlns:a="http://schemas.openxmlformats.org/drawingml/2006/main">
              <a:ext uri="{FF2B5EF4-FFF2-40B4-BE49-F238E27FC236}">
                <a16:creationId xmlns:a16="http://schemas.microsoft.com/office/drawing/2014/main" id="{240481E0-A995-4E0D-8021-E9270217614D}"/>
              </a:ext>
            </a:extLst>
          </p:cNvPr>
          <p:cNvSpPr>
            <a:spLocks xmlns:a="http://schemas.openxmlformats.org/drawingml/2006/main" noGrp="1"/>
          </p:cNvSpPr>
          <p:nvPr/>
        </p:nvSpPr>
        <p:spPr>
          <a:xfrm xmlns:a="http://schemas.openxmlformats.org/drawingml/2006/main">
            <a:off x="8296275" y="3190875"/>
            <a:ext cx="66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262"/>
                </a:solidFill>
                <a:latin typeface="Helvetica Neue"/>
                <a:ea typeface="Helvetica Neue"/>
                <a:cs typeface="Helvetica Neue"/>
              </a:defRPr>
            </a:defPPr>
          </a:lstStyle>
          <a:p xmlns:a="http://schemas.openxmlformats.org/drawingml/2006/main">
            <a:pPr algn="l">
              <a:lnSpc>
                <a:spcPct val="110000"/>
              </a:lnSpc>
              <a:buNone/>
              <a:defRPr sz="1650" b="0">
                <a:solidFill>
                  <a:srgbClr val="626262"/>
                </a:solidFill>
                <a:latin typeface="Helvetica Neue"/>
                <a:ea typeface="Helvetica Neue"/>
                <a:cs typeface="Helvetica Neue"/>
              </a:defRPr>
            </a:pPr>
            <a:r>
              <a:rPr sz="1650" b="0">
                <a:solidFill>
                  <a:srgbClr val="626262"/>
                </a:solidFill>
                <a:latin typeface="Helvetica Neue"/>
                <a:ea typeface="Helvetica Neue"/>
                <a:cs typeface="Helvetica Neue"/>
              </a:rPr>
              <a:t>03</a:t>
            </a:r>
          </a:p>
        </p:txBody>
      </p:sp>
      <p:sp>
        <p:nvSpPr>
          <p:cNvPr id="14" name="PM review">
            <a:extLst xmlns:a="http://schemas.openxmlformats.org/drawingml/2006/main">
              <a:ext uri="{FF2B5EF4-FFF2-40B4-BE49-F238E27FC236}">
                <a16:creationId xmlns:a16="http://schemas.microsoft.com/office/drawing/2014/main" id="{48EF179E-30FA-4591-9E09-8D7501781A16}"/>
              </a:ext>
            </a:extLst>
          </p:cNvPr>
          <p:cNvSpPr>
            <a:spLocks xmlns:a="http://schemas.openxmlformats.org/drawingml/2006/main" noGrp="1"/>
          </p:cNvSpPr>
          <p:nvPr/>
        </p:nvSpPr>
        <p:spPr>
          <a:xfrm xmlns:a="http://schemas.openxmlformats.org/drawingml/2006/main">
            <a:off x="8286750" y="3971925"/>
            <a:ext cx="2809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020"/>
                </a:solidFill>
                <a:latin typeface="Helvetica Neue"/>
                <a:ea typeface="Helvetica Neue"/>
                <a:cs typeface="Helvetica Neue"/>
              </a:defRPr>
            </a:defPPr>
          </a:lstStyle>
          <a:p xmlns:a="http://schemas.openxmlformats.org/drawingml/2006/main">
            <a:pPr algn="l">
              <a:lnSpc>
                <a:spcPct val="110000"/>
              </a:lnSpc>
              <a:buNone/>
              <a:defRPr sz="2175" b="0">
                <a:solidFill>
                  <a:srgbClr val="202020"/>
                </a:solidFill>
                <a:latin typeface="Helvetica Neue"/>
                <a:ea typeface="Helvetica Neue"/>
                <a:cs typeface="Helvetica Neue"/>
              </a:defRPr>
            </a:pPr>
            <a:r>
              <a:rPr sz="2175" b="0">
                <a:solidFill>
                  <a:srgbClr val="202020"/>
                </a:solidFill>
                <a:latin typeface="Helvetica Neue"/>
                <a:ea typeface="Helvetica Neue"/>
                <a:cs typeface="Helvetica Neue"/>
              </a:rPr>
              <a:t>PM review</a:t>
            </a:r>
          </a:p>
        </p:txBody>
      </p:sp>
      <p:sp>
        <p:nvSpPr>
          <p:cNvPr id="15" name="The PM sees the delta and de">
            <a:extLst xmlns:a="http://schemas.openxmlformats.org/drawingml/2006/main">
              <a:ext uri="{FF2B5EF4-FFF2-40B4-BE49-F238E27FC236}">
                <a16:creationId xmlns:a16="http://schemas.microsoft.com/office/drawing/2014/main" id="{1FF051A6-97E6-43A6-B55E-6E8D37F304E9}"/>
              </a:ext>
            </a:extLst>
          </p:cNvPr>
          <p:cNvSpPr>
            <a:spLocks xmlns:a="http://schemas.openxmlformats.org/drawingml/2006/main" noGrp="1"/>
          </p:cNvSpPr>
          <p:nvPr/>
        </p:nvSpPr>
        <p:spPr>
          <a:xfrm xmlns:a="http://schemas.openxmlformats.org/drawingml/2006/main">
            <a:off x="8286750" y="4514850"/>
            <a:ext cx="28289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262"/>
                </a:solidFill>
                <a:latin typeface="Helvetica Neue"/>
                <a:ea typeface="Helvetica Neue"/>
                <a:cs typeface="Helvetica Neue"/>
              </a:defRPr>
            </a:defPPr>
          </a:lstStyle>
          <a:p xmlns:a="http://schemas.openxmlformats.org/drawingml/2006/main">
            <a:pPr algn="l">
              <a:lnSpc>
                <a:spcPct val="120000"/>
              </a:lnSpc>
              <a:buNone/>
              <a:defRPr sz="1575" b="0">
                <a:solidFill>
                  <a:srgbClr val="626262"/>
                </a:solidFill>
                <a:latin typeface="Helvetica Neue"/>
                <a:ea typeface="Helvetica Neue"/>
                <a:cs typeface="Helvetica Neue"/>
              </a:defRPr>
            </a:pPr>
            <a:r>
              <a:rPr sz="1575" b="0">
                <a:solidFill>
                  <a:srgbClr val="626262"/>
                </a:solidFill>
                <a:latin typeface="Helvetica Neue"/>
                <a:ea typeface="Helvetica Neue"/>
                <a:cs typeface="Helvetica Neue"/>
              </a:rPr>
              <a:t>The PM sees the delta and decides whether to update</a:t>
            </a:r>
          </a:p>
        </p:txBody>
      </p:sp>
    </p:spTree>
    <p:extLst>
      <p:ext uri="{BB962C8B-B14F-4D97-AF65-F5344CB8AC3E}">
        <p14:creationId xmlns:p14="http://schemas.microsoft.com/office/powerpoint/2010/main" val="1240298292"/>
      </p:ext>
    </p:extLst>
  </p:cSld>
</p:sld>
</file>

<file path=ppt/slides/slide6.xml><?xml version="1.0" encoding="utf-8"?>
<p:sld xmlns:p="http://schemas.openxmlformats.org/presentationml/2006/main">
  <p:cSld>
    <p:bg>
      <p:bgPr>
        <a:solidFill xmlns:a="http://schemas.openxmlformats.org/drawingml/2006/main">
          <a:srgbClr val="0B0B0B"/>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DCB4E092-FA54-4C87-BC10-77A7F46B1D97}"/>
              </a:ext>
            </a:extLst>
          </p:cNvPr>
          <p:cNvPicPr>
            <a:picLocks xmlns:a="http://schemas.openxmlformats.org/drawingml/2006/main" noChangeAspect="1"/>
          </p:cNvPicPr>
          <p:nvPr/>
        </p:nvPicPr>
        <p:blipFill>
          <a:blip xmlns:r="http://schemas.openxmlformats.org/officeDocument/2006/relationships" xmlns:a="http://schemas.openxmlformats.org/drawingml/2006/main" r:embed="R22e419291ccf4cd4"/>
          <a:srcRect xmlns:a="http://schemas.openxmlformats.org/drawingml/2006/main" l="25000" t="0" r="2500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ing top dark band">
            <a:extLst xmlns:a="http://schemas.openxmlformats.org/drawingml/2006/main">
              <a:ext uri="{FF2B5EF4-FFF2-40B4-BE49-F238E27FC236}">
                <a16:creationId xmlns:a16="http://schemas.microsoft.com/office/drawing/2014/main" id="{BB695B77-31F7-44CA-94CB-FC61DB506FEA}"/>
              </a:ext>
            </a:extLst>
          </p:cNvPr>
          <p:cNvSpPr>
            <a:spLocks xmlns:a="http://schemas.openxmlformats.org/drawingml/2006/main" noGrp="1"/>
          </p:cNvSpPr>
          <p:nvPr/>
        </p:nvSpPr>
        <p:spPr>
          <a:xfrm xmlns:a="http://schemas.openxmlformats.org/drawingml/2006/main">
            <a:off x="0" y="0"/>
            <a:ext cx="12192000" cy="819150"/>
          </a:xfrm>
          <a:prstGeom xmlns:a="http://schemas.openxmlformats.org/drawingml/2006/main" prst="rect">
            <a:avLst/>
          </a:prstGeom>
          <a:solidFill xmlns:a="http://schemas.openxmlformats.org/drawingml/2006/main">
            <a:srgbClr val="21110D"/>
          </a:solidFill>
          <a:ln xmlns:a="http://schemas.openxmlformats.org/drawingml/2006/main" w="0">
            <a:noFill/>
            <a:prstDash val="solid"/>
          </a:ln>
        </p:spPr>
      </p:sp>
      <p:sp>
        <p:nvSpPr>
          <p:cNvPr id="3" name="THE PRODUCT MANAGER DECIDES">
            <a:extLst xmlns:a="http://schemas.openxmlformats.org/drawingml/2006/main">
              <a:ext uri="{FF2B5EF4-FFF2-40B4-BE49-F238E27FC236}">
                <a16:creationId xmlns:a16="http://schemas.microsoft.com/office/drawing/2014/main" id="{C3B2EC0F-22B1-4D4E-8A49-3BD93F50B30A}"/>
              </a:ext>
            </a:extLst>
          </p:cNvPr>
          <p:cNvSpPr>
            <a:spLocks xmlns:a="http://schemas.openxmlformats.org/drawingml/2006/main" noGrp="1"/>
          </p:cNvSpPr>
          <p:nvPr/>
        </p:nvSpPr>
        <p:spPr>
          <a:xfrm xmlns:a="http://schemas.openxmlformats.org/drawingml/2006/main">
            <a:off x="781050" y="428625"/>
            <a:ext cx="6286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F5E7DF"/>
                </a:solidFill>
                <a:latin typeface="Helvetica Neue"/>
                <a:ea typeface="Helvetica Neue"/>
                <a:cs typeface="Helvetica Neue"/>
              </a:defRPr>
            </a:defPPr>
          </a:lstStyle>
          <a:p xmlns:a="http://schemas.openxmlformats.org/drawingml/2006/main">
            <a:pPr algn="l">
              <a:lnSpc>
                <a:spcPct val="110000"/>
              </a:lnSpc>
              <a:buNone/>
              <a:defRPr sz="1125" b="1">
                <a:solidFill>
                  <a:srgbClr val="F5E7DF"/>
                </a:solidFill>
                <a:latin typeface="Helvetica Neue"/>
                <a:ea typeface="Helvetica Neue"/>
                <a:cs typeface="Helvetica Neue"/>
              </a:defRPr>
            </a:pPr>
            <a:r>
              <a:rPr sz="1125" b="1">
                <a:solidFill>
                  <a:srgbClr val="F5E7DF"/>
                </a:solidFill>
                <a:latin typeface="Helvetica Neue"/>
                <a:ea typeface="Helvetica Neue"/>
                <a:cs typeface="Helvetica Neue"/>
              </a:rPr>
              <a:t>THE PRODUCT MANAGER DECIDES</a:t>
            </a:r>
          </a:p>
        </p:txBody>
      </p:sp>
      <p:sp>
        <p:nvSpPr>
          <p:cNvPr id="4" name="Agents do the reading.&#10;The P">
            <a:extLst xmlns:a="http://schemas.openxmlformats.org/drawingml/2006/main">
              <a:ext uri="{FF2B5EF4-FFF2-40B4-BE49-F238E27FC236}">
                <a16:creationId xmlns:a16="http://schemas.microsoft.com/office/drawing/2014/main" id="{8DDED2A4-4B94-4BEF-AE05-3C88D663C533}"/>
              </a:ext>
            </a:extLst>
          </p:cNvPr>
          <p:cNvSpPr>
            <a:spLocks xmlns:a="http://schemas.openxmlformats.org/drawingml/2006/main" noGrp="1"/>
          </p:cNvSpPr>
          <p:nvPr/>
        </p:nvSpPr>
        <p:spPr>
          <a:xfrm xmlns:a="http://schemas.openxmlformats.org/drawingml/2006/main">
            <a:off x="790575" y="2095500"/>
            <a:ext cx="10287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950" b="0">
                <a:solidFill>
                  <a:srgbClr val="FFFFFF"/>
                </a:solidFill>
                <a:latin typeface="Baskerville"/>
                <a:ea typeface="Baskerville"/>
                <a:cs typeface="Baskerville"/>
              </a:defRPr>
            </a:defPPr>
          </a:lstStyle>
          <a:p xmlns:a="http://schemas.openxmlformats.org/drawingml/2006/main">
            <a:pPr algn="l">
              <a:lnSpc>
                <a:spcPct val="109000"/>
              </a:lnSpc>
              <a:buNone/>
              <a:defRPr sz="4950" b="0">
                <a:solidFill>
                  <a:srgbClr val="FFFFFF"/>
                </a:solidFill>
                <a:latin typeface="Baskerville"/>
                <a:ea typeface="Baskerville"/>
                <a:cs typeface="Baskerville"/>
              </a:defRPr>
            </a:pPr>
            <a:r>
              <a:rPr sz="4950" b="0">
                <a:solidFill>
                  <a:srgbClr val="FFFFFF"/>
                </a:solidFill>
                <a:latin typeface="Baskerville"/>
                <a:ea typeface="Baskerville"/>
                <a:cs typeface="Baskerville"/>
              </a:rPr>
              <a:t>Agents do the reading.</a:t>
            </a:r>
          </a:p>
          <a:p xmlns:a="http://schemas.openxmlformats.org/drawingml/2006/main">
            <a:pPr algn="l">
              <a:lnSpc>
                <a:spcPct val="109000"/>
              </a:lnSpc>
              <a:buNone/>
              <a:defRPr sz="4950" b="0">
                <a:solidFill>
                  <a:srgbClr val="FFFFFF"/>
                </a:solidFill>
                <a:latin typeface="Baskerville"/>
                <a:ea typeface="Baskerville"/>
                <a:cs typeface="Baskerville"/>
              </a:defRPr>
            </a:pPr>
            <a:r>
              <a:rPr sz="4950" b="0">
                <a:solidFill>
                  <a:srgbClr val="FFFFFF"/>
                </a:solidFill>
                <a:latin typeface="Baskerville"/>
                <a:ea typeface="Baskerville"/>
                <a:cs typeface="Baskerville"/>
              </a:rPr>
              <a:t>The PM makes the decision.</a:t>
            </a:r>
          </a:p>
        </p:txBody>
      </p:sp>
      <p:sp>
        <p:nvSpPr>
          <p:cNvPr id="5" name="Every requirement is one cli">
            <a:extLst xmlns:a="http://schemas.openxmlformats.org/drawingml/2006/main">
              <a:ext uri="{FF2B5EF4-FFF2-40B4-BE49-F238E27FC236}">
                <a16:creationId xmlns:a16="http://schemas.microsoft.com/office/drawing/2014/main" id="{5EBC97CB-2C92-4A65-ADBB-83B3A346B772}"/>
              </a:ext>
            </a:extLst>
          </p:cNvPr>
          <p:cNvSpPr>
            <a:spLocks xmlns:a="http://schemas.openxmlformats.org/drawingml/2006/main" noGrp="1"/>
          </p:cNvSpPr>
          <p:nvPr/>
        </p:nvSpPr>
        <p:spPr>
          <a:xfrm xmlns:a="http://schemas.openxmlformats.org/drawingml/2006/main">
            <a:off x="819150" y="4933950"/>
            <a:ext cx="914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7E7DE"/>
                </a:solidFill>
                <a:latin typeface="Helvetica Neue"/>
                <a:ea typeface="Helvetica Neue"/>
                <a:cs typeface="Helvetica Neue"/>
              </a:defRPr>
            </a:defPPr>
          </a:lstStyle>
          <a:p xmlns:a="http://schemas.openxmlformats.org/drawingml/2006/main">
            <a:pPr algn="l">
              <a:lnSpc>
                <a:spcPct val="116000"/>
              </a:lnSpc>
              <a:buNone/>
              <a:defRPr sz="1950" b="0">
                <a:solidFill>
                  <a:srgbClr val="F7E7DE"/>
                </a:solidFill>
                <a:latin typeface="Helvetica Neue"/>
                <a:ea typeface="Helvetica Neue"/>
                <a:cs typeface="Helvetica Neue"/>
              </a:defRPr>
            </a:pPr>
            <a:r>
              <a:rPr sz="1950" b="0">
                <a:solidFill>
                  <a:srgbClr val="F7E7DE"/>
                </a:solidFill>
                <a:latin typeface="Helvetica Neue"/>
                <a:ea typeface="Helvetica Neue"/>
                <a:cs typeface="Helvetica Neue"/>
              </a:rPr>
              <a:t>Every requirement is one click from the customer’s own words.</a:t>
            </a:r>
          </a:p>
        </p:txBody>
      </p:sp>
    </p:spTree>
    <p:extLst>
      <p:ext uri="{BB962C8B-B14F-4D97-AF65-F5344CB8AC3E}">
        <p14:creationId xmlns:p14="http://schemas.microsoft.com/office/powerpoint/2010/main" val="17262623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2026-10-11T01:31:42.1130000Z</dcterms:created>
  <dcterms:modified xsi:type="dcterms:W3CDTF">2026-10-11T01:31:42.1130000Z</dcterms:modified>
</coreProperties>
</file>